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85" r:id="rId1"/>
    <p:sldMasterId id="2147483689" r:id="rId2"/>
    <p:sldMasterId id="2147483693" r:id="rId3"/>
    <p:sldMasterId id="2147483691" r:id="rId4"/>
    <p:sldMasterId id="2147483695" r:id="rId5"/>
  </p:sldMasterIdLst>
  <p:notesMasterIdLst>
    <p:notesMasterId r:id="rId20"/>
  </p:notesMasterIdLst>
  <p:handoutMasterIdLst>
    <p:handoutMasterId r:id="rId21"/>
  </p:handoutMasterIdLst>
  <p:sldIdLst>
    <p:sldId id="531" r:id="rId6"/>
    <p:sldId id="537" r:id="rId7"/>
    <p:sldId id="538" r:id="rId8"/>
    <p:sldId id="539" r:id="rId9"/>
    <p:sldId id="543" r:id="rId10"/>
    <p:sldId id="545" r:id="rId11"/>
    <p:sldId id="546" r:id="rId12"/>
    <p:sldId id="547" r:id="rId13"/>
    <p:sldId id="549" r:id="rId14"/>
    <p:sldId id="555" r:id="rId15"/>
    <p:sldId id="550" r:id="rId16"/>
    <p:sldId id="551" r:id="rId17"/>
    <p:sldId id="556" r:id="rId18"/>
    <p:sldId id="554" r:id="rId19"/>
  </p:sldIdLst>
  <p:sldSz cx="9906000" cy="6858000" type="A4"/>
  <p:notesSz cx="9934575" cy="6802438"/>
  <p:embeddedFontLst>
    <p:embeddedFont>
      <p:font typeface="Rix고딕 M" panose="02020603020101020101" pitchFamily="18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  <p:embeddedFont>
      <p:font typeface="Century Gothic" panose="020B0502020202020204" pitchFamily="34" charset="0"/>
      <p:regular r:id="rId29"/>
      <p:bold r:id="rId30"/>
      <p:italic r:id="rId31"/>
      <p:boldItalic r:id="rId32"/>
    </p:embeddedFont>
    <p:embeddedFont>
      <p:font typeface="Century" panose="02040604050505020304" pitchFamily="18" charset="0"/>
      <p:regular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E6C1C67-1856-4382-B8C0-26E96A9B2358}">
          <p14:sldIdLst>
            <p14:sldId id="531"/>
          </p14:sldIdLst>
        </p14:section>
        <p14:section name="목차" id="{EE000766-9030-49BC-9144-0B30ACDAB702}">
          <p14:sldIdLst>
            <p14:sldId id="537"/>
          </p14:sldIdLst>
        </p14:section>
        <p14:section name="1. WEB 환경 실행" id="{170EAEB4-7FAE-4019-BC1A-1337F3DDD09E}">
          <p14:sldIdLst>
            <p14:sldId id="538"/>
            <p14:sldId id="539"/>
            <p14:sldId id="543"/>
          </p14:sldIdLst>
        </p14:section>
        <p14:section name="2. WEB 서비스 페이지" id="{6E2FC8C7-2265-48D6-8C2B-0E9F41E72C0B}">
          <p14:sldIdLst>
            <p14:sldId id="545"/>
            <p14:sldId id="546"/>
            <p14:sldId id="547"/>
            <p14:sldId id="549"/>
            <p14:sldId id="555"/>
            <p14:sldId id="550"/>
            <p14:sldId id="551"/>
            <p14:sldId id="556"/>
          </p14:sldIdLst>
        </p14:section>
        <p14:section name="마지막장" id="{89FA9C1A-A206-4119-A8A0-0F797153EFA5}">
          <p14:sldIdLst>
            <p14:sldId id="554"/>
          </p14:sldIdLst>
        </p14:section>
        <p14:section name="제목 없는 구역" id="{C1D2D9AB-CBF9-4CD7-99A6-AA6971418DD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0000"/>
    <a:srgbClr val="C00000"/>
    <a:srgbClr val="858687"/>
    <a:srgbClr val="003E6A"/>
    <a:srgbClr val="1598CB"/>
    <a:srgbClr val="FFFFFF"/>
    <a:srgbClr val="C82020"/>
    <a:srgbClr val="1F7DC5"/>
    <a:srgbClr val="3086E4"/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29" autoAdjust="0"/>
    <p:restoredTop sz="96724" autoAdjust="0"/>
  </p:normalViewPr>
  <p:slideViewPr>
    <p:cSldViewPr snapToGrid="0">
      <p:cViewPr varScale="1">
        <p:scale>
          <a:sx n="160" d="100"/>
          <a:sy n="160" d="100"/>
        </p:scale>
        <p:origin x="1840" y="88"/>
      </p:cViewPr>
      <p:guideLst/>
    </p:cSldViewPr>
  </p:slideViewPr>
  <p:outlineViewPr>
    <p:cViewPr>
      <p:scale>
        <a:sx n="50" d="100"/>
        <a:sy n="50" d="100"/>
      </p:scale>
      <p:origin x="0" y="-5112"/>
    </p:cViewPr>
  </p:outlineViewPr>
  <p:notesTextViewPr>
    <p:cViewPr>
      <p:scale>
        <a:sx n="50" d="100"/>
        <a:sy n="50" d="100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2006" y="10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5.fntdata"/><Relationship Id="rId21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5369" cy="3413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6889" y="0"/>
            <a:ext cx="4305368" cy="3413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BE44C-024A-419A-A02E-3E606A1EFFDC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61121"/>
            <a:ext cx="4305369" cy="3413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6889" y="6461121"/>
            <a:ext cx="4305368" cy="3413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31FBC-C3B8-4BF5-B791-353D4913A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898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5369" cy="3413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6889" y="0"/>
            <a:ext cx="4305368" cy="3413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E7109-8A92-4FCA-9BD4-F25EADD08ABB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9938" y="849313"/>
            <a:ext cx="3316287" cy="2297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4618" y="3274040"/>
            <a:ext cx="7947659" cy="267836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1121"/>
            <a:ext cx="4305369" cy="3413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6889" y="6461121"/>
            <a:ext cx="4305368" cy="3413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3067B-1D26-46E8-98C7-B44E14E84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06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3067B-1D26-46E8-98C7-B44E14E8491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389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3067B-1D26-46E8-98C7-B44E14E8491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843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3067B-1D26-46E8-98C7-B44E14E8491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29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3067B-1D26-46E8-98C7-B44E14E8491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960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3067B-1D26-46E8-98C7-B44E14E8491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658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3067B-1D26-46E8-98C7-B44E14E8491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80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3067B-1D26-46E8-98C7-B44E14E8491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97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959665" y="3098022"/>
            <a:ext cx="3986668" cy="390171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algn="ctr">
              <a:defRPr sz="2817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6927018" y="6616712"/>
            <a:ext cx="2834638" cy="124977"/>
            <a:chOff x="5630045" y="4840500"/>
            <a:chExt cx="2616589" cy="124977"/>
          </a:xfrm>
        </p:grpSpPr>
        <p:sp>
          <p:nvSpPr>
            <p:cNvPr id="8" name="Text Box 9"/>
            <p:cNvSpPr txBox="1">
              <a:spLocks noChangeArrowheads="1"/>
            </p:cNvSpPr>
            <p:nvPr userDrawn="1"/>
          </p:nvSpPr>
          <p:spPr bwMode="auto">
            <a:xfrm>
              <a:off x="6299355" y="4865450"/>
              <a:ext cx="1947279" cy="100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altLang="ko-KR" sz="650">
                  <a:ln>
                    <a:solidFill>
                      <a:schemeClr val="accent1">
                        <a:alpha val="2000"/>
                      </a:schemeClr>
                    </a:solidFill>
                  </a:ln>
                  <a:solidFill>
                    <a:srgbClr val="7F7F7F"/>
                  </a:solidFill>
                  <a:latin typeface="Century Gothic" panose="020B0502020202020204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2022 </a:t>
              </a:r>
              <a:r>
                <a:rPr lang="en-US" altLang="ko-KR" sz="650" b="1">
                  <a:ln>
                    <a:solidFill>
                      <a:schemeClr val="accent1">
                        <a:alpha val="2000"/>
                      </a:schemeClr>
                    </a:solidFill>
                  </a:ln>
                  <a:solidFill>
                    <a:schemeClr val="tx1"/>
                  </a:solidFill>
                  <a:latin typeface="Century Gothic" panose="020B0502020202020204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ICTWAY</a:t>
              </a:r>
              <a:r>
                <a:rPr lang="en-US" altLang="ko-KR" sz="650">
                  <a:ln>
                    <a:solidFill>
                      <a:schemeClr val="accent1">
                        <a:alpha val="2000"/>
                      </a:schemeClr>
                    </a:solidFill>
                  </a:ln>
                  <a:solidFill>
                    <a:srgbClr val="7F7F7F"/>
                  </a:solidFill>
                  <a:latin typeface="Century Gothic" panose="020B0502020202020204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 Co., Ltd. All rights reserved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AEBC74B-0B56-6A69-73EB-8622F794C0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0045" y="4840500"/>
              <a:ext cx="610896" cy="109961"/>
            </a:xfrm>
            <a:prstGeom prst="rect">
              <a:avLst/>
            </a:prstGeom>
          </p:spPr>
        </p:pic>
      </p:grp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3360414" y="3606393"/>
            <a:ext cx="3185167" cy="2101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1517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54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B6279E4-AC48-736F-ABDA-44603BDC95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100" y="6477016"/>
            <a:ext cx="1461325" cy="24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787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B6279E4-AC48-736F-ABDA-44603BDC95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511" y="263675"/>
            <a:ext cx="1479629" cy="245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1AD252-A90E-F26E-292E-9A9ED9749F6C}"/>
              </a:ext>
            </a:extLst>
          </p:cNvPr>
          <p:cNvSpPr txBox="1"/>
          <p:nvPr userDrawn="1"/>
        </p:nvSpPr>
        <p:spPr>
          <a:xfrm>
            <a:off x="7354703" y="2464992"/>
            <a:ext cx="1425968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2600" b="0" i="0" smtClean="0">
                <a:solidFill>
                  <a:srgbClr val="003E6A"/>
                </a:solidFill>
                <a:effectLst/>
                <a:latin typeface="Century" panose="02040604050505020304" pitchFamily="18" charset="0"/>
              </a:rPr>
              <a:t>C</a:t>
            </a:r>
            <a:r>
              <a:rPr lang="en-US" altLang="ko-KR" sz="2600" b="0" i="0" smtClean="0">
                <a:solidFill>
                  <a:srgbClr val="1598CB"/>
                </a:solidFill>
                <a:effectLst/>
                <a:latin typeface="Century" panose="02040604050505020304" pitchFamily="18" charset="0"/>
              </a:rPr>
              <a:t>hapter. </a:t>
            </a:r>
            <a:endParaRPr lang="ko-KR" altLang="en-US" sz="2600">
              <a:solidFill>
                <a:srgbClr val="1598CB"/>
              </a:solidFill>
              <a:latin typeface="Century" panose="02040604050505020304" pitchFamily="18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8683229" y="2483460"/>
            <a:ext cx="283258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lang="ko-KR" altLang="en-US" sz="2600" b="0" i="0" smtClean="0">
                <a:solidFill>
                  <a:srgbClr val="1598CB"/>
                </a:solidFill>
                <a:effectLst/>
                <a:latin typeface="Century" panose="02040604050505020304" pitchFamily="18" charset="0"/>
              </a:defRPr>
            </a:lvl1pPr>
            <a:lvl2pPr>
              <a:defRPr lang="ko-KR" altLang="en-US" sz="1950" smtClean="0"/>
            </a:lvl2pPr>
            <a:lvl3pPr>
              <a:defRPr lang="ko-KR" altLang="en-US" sz="195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algn="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제목 개체 틀 7"/>
          <p:cNvSpPr>
            <a:spLocks noGrp="1"/>
          </p:cNvSpPr>
          <p:nvPr>
            <p:ph type="title"/>
          </p:nvPr>
        </p:nvSpPr>
        <p:spPr>
          <a:xfrm>
            <a:off x="2773868" y="3046504"/>
            <a:ext cx="6242844" cy="480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indent="0" algn="r">
              <a:spcBef>
                <a:spcPts val="1083"/>
              </a:spcBef>
              <a:buFont typeface="Arial" panose="020B0604020202020204" pitchFamily="34" charset="0"/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08199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50837" y="1024026"/>
            <a:ext cx="1856277" cy="1661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>
              <a:buFont typeface="+mj-lt"/>
              <a:buNone/>
              <a:defRPr sz="1200" b="1"/>
            </a:lvl1pPr>
            <a:lvl2pPr marL="495285" indent="0">
              <a:buNone/>
              <a:defRPr/>
            </a:lvl2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제목 개체 틀 1"/>
          <p:cNvSpPr>
            <a:spLocks noGrp="1"/>
          </p:cNvSpPr>
          <p:nvPr>
            <p:ph type="title"/>
          </p:nvPr>
        </p:nvSpPr>
        <p:spPr>
          <a:xfrm>
            <a:off x="350838" y="474666"/>
            <a:ext cx="3066545" cy="30014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sz="2167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D07EEC-9B23-4520-85F9-FC075791B945}"/>
              </a:ext>
            </a:extLst>
          </p:cNvPr>
          <p:cNvSpPr/>
          <p:nvPr userDrawn="1"/>
        </p:nvSpPr>
        <p:spPr>
          <a:xfrm>
            <a:off x="218662" y="6574571"/>
            <a:ext cx="1949252" cy="1666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1083" b="1" smtClean="0">
                <a:solidFill>
                  <a:srgbClr val="858687"/>
                </a:solidFill>
                <a:latin typeface="+mj-lt"/>
                <a:ea typeface="Rix고딕 M" panose="02020603020101020101" pitchFamily="18" charset="-127"/>
                <a:cs typeface="Times New Roman" panose="02020603050405020304" pitchFamily="18" charset="0"/>
              </a:rPr>
              <a:t>디지털 트윈 모델 데이터 뷰어 </a:t>
            </a:r>
            <a:r>
              <a:rPr lang="en-US" altLang="ko-KR" sz="1083" b="1" smtClean="0">
                <a:solidFill>
                  <a:srgbClr val="858687"/>
                </a:solidFill>
                <a:latin typeface="+mj-lt"/>
                <a:ea typeface="Rix고딕 M" panose="02020603020101020101" pitchFamily="18" charset="-127"/>
                <a:cs typeface="Times New Roman" panose="02020603050405020304" pitchFamily="18" charset="0"/>
              </a:rPr>
              <a:t>SW</a:t>
            </a:r>
            <a:endParaRPr lang="ko-KR" altLang="en-US" sz="1083" b="1">
              <a:solidFill>
                <a:srgbClr val="858687"/>
              </a:solidFill>
              <a:latin typeface="+mj-lt"/>
              <a:ea typeface="Rix고딕 M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324864" y="1234814"/>
            <a:ext cx="2502642" cy="1052"/>
          </a:xfrm>
          <a:prstGeom prst="line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382645" y="1280455"/>
            <a:ext cx="1882247" cy="25391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179388" indent="-1793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100" b="0"/>
            </a:lvl1pPr>
            <a:lvl2pPr marL="495285" indent="0">
              <a:buNone/>
              <a:defRPr/>
            </a:lvl2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22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350837" y="236178"/>
            <a:ext cx="2162451" cy="1938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>
              <a:buFont typeface="+mj-lt"/>
              <a:buNone/>
              <a:defRPr sz="1400" b="1">
                <a:solidFill>
                  <a:schemeClr val="bg1">
                    <a:lumMod val="75000"/>
                  </a:schemeClr>
                </a:solidFill>
              </a:defRPr>
            </a:lvl1pPr>
            <a:lvl2pPr marL="495285" indent="0">
              <a:buNone/>
              <a:defRPr/>
            </a:lvl2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635009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221">
          <p15:clr>
            <a:srgbClr val="FBAE40"/>
          </p15:clr>
        </p15:guide>
        <p15:guide id="3" pos="6019">
          <p15:clr>
            <a:srgbClr val="FBAE40"/>
          </p15:clr>
        </p15:guide>
        <p15:guide id="4" orient="horz" pos="550">
          <p15:clr>
            <a:srgbClr val="FBAE40"/>
          </p15:clr>
        </p15:guide>
        <p15:guide id="5" orient="horz" pos="1185">
          <p15:clr>
            <a:srgbClr val="FBAE40"/>
          </p15:clr>
        </p15:guide>
        <p15:guide id="6" orient="horz" pos="4247">
          <p15:clr>
            <a:srgbClr val="FBAE40"/>
          </p15:clr>
        </p15:guide>
        <p15:guide id="7" pos="2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1856277" cy="1661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>
              <a:buFont typeface="+mj-lt"/>
              <a:buNone/>
              <a:defRPr sz="1200" b="1"/>
            </a:lvl1pPr>
            <a:lvl2pPr marL="495285" indent="0">
              <a:buNone/>
              <a:defRPr/>
            </a:lvl2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제목 개체 틀 1"/>
          <p:cNvSpPr>
            <a:spLocks noGrp="1"/>
          </p:cNvSpPr>
          <p:nvPr>
            <p:ph type="title"/>
          </p:nvPr>
        </p:nvSpPr>
        <p:spPr>
          <a:xfrm>
            <a:off x="350838" y="474666"/>
            <a:ext cx="3066545" cy="30014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sz="2167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D07EEC-9B23-4520-85F9-FC075791B945}"/>
              </a:ext>
            </a:extLst>
          </p:cNvPr>
          <p:cNvSpPr/>
          <p:nvPr userDrawn="1"/>
        </p:nvSpPr>
        <p:spPr>
          <a:xfrm>
            <a:off x="218662" y="6574571"/>
            <a:ext cx="1949252" cy="1666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1083" b="1" smtClean="0">
                <a:solidFill>
                  <a:srgbClr val="858687"/>
                </a:solidFill>
                <a:latin typeface="+mj-lt"/>
                <a:ea typeface="Rix고딕 M" panose="02020603020101020101" pitchFamily="18" charset="-127"/>
                <a:cs typeface="Times New Roman" panose="02020603050405020304" pitchFamily="18" charset="0"/>
              </a:rPr>
              <a:t>디지털 트윈 모델 데이터 뷰어 </a:t>
            </a:r>
            <a:r>
              <a:rPr lang="en-US" altLang="ko-KR" sz="1083" b="1" smtClean="0">
                <a:solidFill>
                  <a:srgbClr val="858687"/>
                </a:solidFill>
                <a:latin typeface="+mj-lt"/>
                <a:ea typeface="Rix고딕 M" panose="02020603020101020101" pitchFamily="18" charset="-127"/>
                <a:cs typeface="Times New Roman" panose="02020603050405020304" pitchFamily="18" charset="0"/>
              </a:rPr>
              <a:t>SW</a:t>
            </a:r>
            <a:endParaRPr lang="ko-KR" altLang="en-US" sz="1083" b="1">
              <a:solidFill>
                <a:srgbClr val="858687"/>
              </a:solidFill>
              <a:latin typeface="+mj-lt"/>
              <a:ea typeface="Rix고딕 M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387798" y="1234814"/>
            <a:ext cx="4061399" cy="0"/>
          </a:xfrm>
          <a:prstGeom prst="line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1882247" cy="25391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179388" indent="-179388" defTabSz="1793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100" b="0"/>
            </a:lvl1pPr>
            <a:lvl2pPr marL="495285" indent="0">
              <a:buNone/>
              <a:defRPr/>
            </a:lvl2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22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350837" y="236178"/>
            <a:ext cx="2162451" cy="1938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>
              <a:buFont typeface="+mj-lt"/>
              <a:buNone/>
              <a:defRPr sz="1400" b="1">
                <a:solidFill>
                  <a:schemeClr val="bg1">
                    <a:lumMod val="75000"/>
                  </a:schemeClr>
                </a:solidFill>
              </a:defRPr>
            </a:lvl1pPr>
            <a:lvl2pPr marL="495285" indent="0">
              <a:buNone/>
              <a:defRPr/>
            </a:lvl2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9006152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  <p15:guide id="2" pos="221" userDrawn="1">
          <p15:clr>
            <a:srgbClr val="FBAE40"/>
          </p15:clr>
        </p15:guide>
        <p15:guide id="3" pos="6019" userDrawn="1">
          <p15:clr>
            <a:srgbClr val="FBAE40"/>
          </p15:clr>
        </p15:guide>
        <p15:guide id="4" orient="horz" pos="550" userDrawn="1">
          <p15:clr>
            <a:srgbClr val="FBAE40"/>
          </p15:clr>
        </p15:guide>
        <p15:guide id="5" orient="horz" pos="1185" userDrawn="1">
          <p15:clr>
            <a:srgbClr val="FBAE40"/>
          </p15:clr>
        </p15:guide>
        <p15:guide id="6" orient="horz" pos="4247" userDrawn="1">
          <p15:clr>
            <a:srgbClr val="FBAE40"/>
          </p15:clr>
        </p15:guide>
        <p15:guide id="7" pos="240" userDrawn="1">
          <p15:clr>
            <a:srgbClr val="FBAE40"/>
          </p15:clr>
        </p15:guide>
        <p15:guide id="8" orient="horz" pos="39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B6279E4-AC48-736F-ABDA-44603BDC95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511" y="263675"/>
            <a:ext cx="1479629" cy="245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1AD252-A90E-F26E-292E-9A9ED9749F6C}"/>
              </a:ext>
            </a:extLst>
          </p:cNvPr>
          <p:cNvSpPr txBox="1"/>
          <p:nvPr userDrawn="1"/>
        </p:nvSpPr>
        <p:spPr>
          <a:xfrm>
            <a:off x="7354703" y="2464992"/>
            <a:ext cx="1425968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2600" b="0" i="0" smtClean="0">
                <a:solidFill>
                  <a:srgbClr val="003E6A"/>
                </a:solidFill>
                <a:effectLst/>
                <a:latin typeface="Century" panose="02040604050505020304" pitchFamily="18" charset="0"/>
              </a:rPr>
              <a:t>C</a:t>
            </a:r>
            <a:r>
              <a:rPr lang="en-US" altLang="ko-KR" sz="2600" b="0" i="0" smtClean="0">
                <a:solidFill>
                  <a:srgbClr val="1598CB"/>
                </a:solidFill>
                <a:effectLst/>
                <a:latin typeface="Century" panose="02040604050505020304" pitchFamily="18" charset="0"/>
              </a:rPr>
              <a:t>hapter. </a:t>
            </a:r>
            <a:endParaRPr lang="ko-KR" altLang="en-US" sz="2600">
              <a:solidFill>
                <a:srgbClr val="1598CB"/>
              </a:solidFill>
              <a:latin typeface="Century" panose="02040604050505020304" pitchFamily="18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8683229" y="2483460"/>
            <a:ext cx="283258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lang="ko-KR" altLang="en-US" sz="2600" b="0" i="0" smtClean="0">
                <a:solidFill>
                  <a:srgbClr val="1598CB"/>
                </a:solidFill>
                <a:effectLst/>
                <a:latin typeface="Century" panose="02040604050505020304" pitchFamily="18" charset="0"/>
              </a:defRPr>
            </a:lvl1pPr>
            <a:lvl2pPr>
              <a:defRPr lang="ko-KR" altLang="en-US" sz="1950" smtClean="0"/>
            </a:lvl2pPr>
            <a:lvl3pPr>
              <a:defRPr lang="ko-KR" altLang="en-US" sz="195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algn="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제목 개체 틀 7"/>
          <p:cNvSpPr>
            <a:spLocks noGrp="1"/>
          </p:cNvSpPr>
          <p:nvPr>
            <p:ph type="title"/>
          </p:nvPr>
        </p:nvSpPr>
        <p:spPr>
          <a:xfrm>
            <a:off x="2773868" y="3046504"/>
            <a:ext cx="6242844" cy="480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indent="0" algn="r">
              <a:spcBef>
                <a:spcPts val="1083"/>
              </a:spcBef>
              <a:buFont typeface="Arial" panose="020B0604020202020204" pitchFamily="34" charset="0"/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408883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B6279E4-AC48-736F-ABDA-44603BDC95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187" y="3096529"/>
            <a:ext cx="1479629" cy="24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622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w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5.w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D76F751-8B5B-4ECC-C1A6-298DE41824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0" t="11821" r="13452"/>
          <a:stretch/>
        </p:blipFill>
        <p:spPr>
          <a:xfrm>
            <a:off x="0" y="0"/>
            <a:ext cx="9906000" cy="6394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222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90570" rtl="0" eaLnBrk="1" latinLnBrk="1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1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E2C41D0-4F4A-9713-D4CF-321D542322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706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990570" rtl="0" eaLnBrk="1" latinLnBrk="1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1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E2C41D0-4F4A-9713-D4CF-321D542322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8" r="16471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1AD252-A90E-F26E-292E-9A9ED9749F6C}"/>
              </a:ext>
            </a:extLst>
          </p:cNvPr>
          <p:cNvSpPr txBox="1"/>
          <p:nvPr userDrawn="1"/>
        </p:nvSpPr>
        <p:spPr>
          <a:xfrm>
            <a:off x="7354703" y="2464992"/>
            <a:ext cx="1425968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2600" b="0" i="0" smtClean="0">
                <a:solidFill>
                  <a:srgbClr val="003E6A"/>
                </a:solidFill>
                <a:effectLst/>
                <a:latin typeface="Century" panose="02040604050505020304" pitchFamily="18" charset="0"/>
              </a:rPr>
              <a:t>C</a:t>
            </a:r>
            <a:r>
              <a:rPr lang="en-US" altLang="ko-KR" sz="2600" b="0" i="0" smtClean="0">
                <a:solidFill>
                  <a:srgbClr val="1598CB"/>
                </a:solidFill>
                <a:effectLst/>
                <a:latin typeface="Century" panose="02040604050505020304" pitchFamily="18" charset="0"/>
              </a:rPr>
              <a:t>hapter. </a:t>
            </a:r>
            <a:endParaRPr lang="ko-KR" altLang="en-US" sz="2600">
              <a:solidFill>
                <a:srgbClr val="1598CB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46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8" r:id="rId2"/>
  </p:sldLayoutIdLst>
  <p:txStyles>
    <p:titleStyle>
      <a:lvl1pPr algn="r" defTabSz="990570" rtl="0" eaLnBrk="1" latinLnBrk="1" hangingPunct="1">
        <a:lnSpc>
          <a:spcPct val="90000"/>
        </a:lnSpc>
        <a:spcBef>
          <a:spcPct val="0"/>
        </a:spcBef>
        <a:buNone/>
        <a:defRPr lang="ko-KR" altLang="en-US" sz="3467" b="1" kern="1200" dirty="0" smtClean="0">
          <a:solidFill>
            <a:srgbClr val="003E6A"/>
          </a:solidFill>
          <a:latin typeface="+mn-lt"/>
          <a:ea typeface="+mn-ea"/>
          <a:cs typeface="+mn-cs"/>
        </a:defRPr>
      </a:lvl1pPr>
    </p:titleStyle>
    <p:bodyStyle>
      <a:lvl1pPr marL="247642" indent="-247642" algn="l" defTabSz="990570" rtl="0" eaLnBrk="1" latinLnBrk="1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FB53CF-849D-538D-6BB7-F43FCAEF52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56" b="81388"/>
          <a:stretch/>
        </p:blipFill>
        <p:spPr>
          <a:xfrm>
            <a:off x="0" y="0"/>
            <a:ext cx="9906000" cy="876300"/>
          </a:xfrm>
          <a:prstGeom prst="rect">
            <a:avLst/>
          </a:prstGeom>
        </p:spPr>
      </p:pic>
      <p:grpSp>
        <p:nvGrpSpPr>
          <p:cNvPr id="7" name="그룹 6"/>
          <p:cNvGrpSpPr/>
          <p:nvPr userDrawn="1"/>
        </p:nvGrpSpPr>
        <p:grpSpPr>
          <a:xfrm>
            <a:off x="6927018" y="6616711"/>
            <a:ext cx="2834638" cy="129740"/>
            <a:chOff x="5630045" y="4840500"/>
            <a:chExt cx="2616589" cy="129740"/>
          </a:xfrm>
        </p:grpSpPr>
        <p:sp>
          <p:nvSpPr>
            <p:cNvPr id="8" name="Text Box 9"/>
            <p:cNvSpPr txBox="1">
              <a:spLocks noChangeArrowheads="1"/>
            </p:cNvSpPr>
            <p:nvPr userDrawn="1"/>
          </p:nvSpPr>
          <p:spPr bwMode="auto">
            <a:xfrm>
              <a:off x="6299355" y="4870213"/>
              <a:ext cx="1947279" cy="100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altLang="ko-KR" sz="650">
                  <a:ln>
                    <a:solidFill>
                      <a:schemeClr val="accent1">
                        <a:alpha val="2000"/>
                      </a:schemeClr>
                    </a:solidFill>
                  </a:ln>
                  <a:solidFill>
                    <a:srgbClr val="7F7F7F"/>
                  </a:solidFill>
                  <a:latin typeface="Century Gothic" panose="020B0502020202020204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2022 </a:t>
              </a:r>
              <a:r>
                <a:rPr lang="en-US" altLang="ko-KR" sz="650" b="1">
                  <a:ln>
                    <a:solidFill>
                      <a:schemeClr val="accent1">
                        <a:alpha val="2000"/>
                      </a:schemeClr>
                    </a:solidFill>
                  </a:ln>
                  <a:solidFill>
                    <a:schemeClr val="tx1"/>
                  </a:solidFill>
                  <a:latin typeface="Century Gothic" panose="020B0502020202020204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ICTWAY</a:t>
              </a:r>
              <a:r>
                <a:rPr lang="en-US" altLang="ko-KR" sz="650">
                  <a:ln>
                    <a:solidFill>
                      <a:schemeClr val="accent1">
                        <a:alpha val="2000"/>
                      </a:schemeClr>
                    </a:solidFill>
                  </a:ln>
                  <a:solidFill>
                    <a:srgbClr val="7F7F7F"/>
                  </a:solidFill>
                  <a:latin typeface="Century Gothic" panose="020B0502020202020204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 Co., Ltd. All rights reserved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AEBC74B-0B56-6A69-73EB-8622F794C0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0045" y="4840500"/>
              <a:ext cx="610896" cy="109961"/>
            </a:xfrm>
            <a:prstGeom prst="rect">
              <a:avLst/>
            </a:prstGeom>
          </p:spPr>
        </p:pic>
      </p:grpSp>
      <p:sp>
        <p:nvSpPr>
          <p:cNvPr id="10" name="슬라이드 번호 개체 틀 5"/>
          <p:cNvSpPr txBox="1">
            <a:spLocks/>
          </p:cNvSpPr>
          <p:nvPr userDrawn="1"/>
        </p:nvSpPr>
        <p:spPr>
          <a:xfrm>
            <a:off x="4613755" y="6593285"/>
            <a:ext cx="678492" cy="14882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defTabSz="837786"/>
            <a:fld id="{567E9EC0-8CF6-4578-9DC6-EEFE9EDFA1F8}" type="slidenum">
              <a:rPr lang="ko-KR" altLang="en-US" sz="73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pPr defTabSz="837786"/>
              <a:t>‹#›</a:t>
            </a:fld>
            <a:r>
              <a:rPr lang="ko-KR" altLang="en-US" sz="73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731" b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/ 10</a:t>
            </a:r>
            <a:endParaRPr lang="ko-KR" altLang="en-US" sz="731" b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29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7" r:id="rId2"/>
  </p:sldLayoutIdLst>
  <p:txStyles>
    <p:titleStyle>
      <a:lvl1pPr algn="l" defTabSz="990570" rtl="0" eaLnBrk="1" latinLnBrk="1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1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E2C41D0-4F4A-9713-D4CF-321D542322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030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90570" rtl="0" eaLnBrk="1" latinLnBrk="1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1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605663" y="3098022"/>
            <a:ext cx="8694689" cy="390171"/>
          </a:xfrm>
        </p:spPr>
        <p:txBody>
          <a:bodyPr/>
          <a:lstStyle/>
          <a:p>
            <a:r>
              <a:rPr lang="ko-KR" altLang="en-US" dirty="0" smtClean="0"/>
              <a:t>연합 </a:t>
            </a:r>
            <a:r>
              <a:rPr lang="ko-KR" altLang="en-US" dirty="0" err="1" smtClean="0"/>
              <a:t>디지털트윈</a:t>
            </a:r>
            <a:r>
              <a:rPr lang="ko-KR" altLang="en-US" dirty="0" smtClean="0"/>
              <a:t> 머신러닝 학습용 데이터 서버 시스템</a:t>
            </a:r>
            <a:endParaRPr lang="ko-KR" altLang="en-US" dirty="0"/>
          </a:p>
        </p:txBody>
      </p:sp>
      <p:sp>
        <p:nvSpPr>
          <p:cNvPr id="6" name="부제목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mtClean="0"/>
              <a:t>- </a:t>
            </a:r>
            <a:r>
              <a:rPr lang="ko-KR" altLang="en-US" smtClean="0"/>
              <a:t>사용자 매뉴얼 </a:t>
            </a:r>
            <a:r>
              <a:rPr lang="en-US" altLang="ko-KR" smtClean="0"/>
              <a:t>v1.0</a:t>
            </a:r>
            <a:r>
              <a:rPr lang="ko-KR" altLang="en-US" smtClean="0"/>
              <a:t> </a:t>
            </a:r>
            <a:r>
              <a:rPr lang="en-US" altLang="ko-KR" smtClean="0"/>
              <a:t>-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81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3"/>
          <p:cNvSpPr txBox="1">
            <a:spLocks/>
          </p:cNvSpPr>
          <p:nvPr/>
        </p:nvSpPr>
        <p:spPr>
          <a:xfrm>
            <a:off x="3776396" y="2917279"/>
            <a:ext cx="2353208" cy="74860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92356" indent="-292356" algn="l" defTabSz="990570" rtl="0" eaLnBrk="1" latinLnBrk="1" hangingPunct="1">
              <a:lnSpc>
                <a:spcPct val="90000"/>
              </a:lnSpc>
              <a:spcBef>
                <a:spcPts val="1083"/>
              </a:spcBef>
              <a:buFont typeface="+mj-lt"/>
              <a:buAutoNum type="arabicPeriod"/>
              <a:defRPr sz="17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5" indent="0" algn="l" defTabSz="990570" rtl="0" eaLnBrk="1" latinLnBrk="1" hangingPunct="1">
              <a:lnSpc>
                <a:spcPct val="90000"/>
              </a:lnSpc>
              <a:spcBef>
                <a:spcPts val="54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1" hangingPunct="1">
              <a:lnSpc>
                <a:spcPct val="90000"/>
              </a:lnSpc>
              <a:spcBef>
                <a:spcPts val="542"/>
              </a:spcBef>
              <a:buFont typeface="Arial" panose="020B0604020202020204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1" hangingPunct="1">
              <a:lnSpc>
                <a:spcPct val="90000"/>
              </a:lnSpc>
              <a:spcBef>
                <a:spcPts val="542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1" hangingPunct="1">
              <a:lnSpc>
                <a:spcPct val="90000"/>
              </a:lnSpc>
              <a:spcBef>
                <a:spcPts val="542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1" hangingPunct="1">
              <a:lnSpc>
                <a:spcPct val="90000"/>
              </a:lnSpc>
              <a:spcBef>
                <a:spcPts val="542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1" hangingPunct="1">
              <a:lnSpc>
                <a:spcPct val="90000"/>
              </a:lnSpc>
              <a:spcBef>
                <a:spcPts val="542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1" hangingPunct="1">
              <a:lnSpc>
                <a:spcPct val="90000"/>
              </a:lnSpc>
              <a:spcBef>
                <a:spcPts val="542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1" hangingPunct="1">
              <a:lnSpc>
                <a:spcPct val="90000"/>
              </a:lnSpc>
              <a:spcBef>
                <a:spcPts val="542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WEB </a:t>
            </a:r>
            <a:r>
              <a:rPr lang="ko-KR" altLang="en-US" dirty="0" smtClean="0"/>
              <a:t>서버 환경 실행</a:t>
            </a:r>
            <a:endParaRPr lang="en-US" altLang="ko-KR" dirty="0" smtClean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WEB </a:t>
            </a:r>
            <a:r>
              <a:rPr lang="ko-KR" altLang="en-US" dirty="0" smtClean="0"/>
              <a:t>서비스 페이지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AD252-A90E-F26E-292E-9A9ED9749F6C}"/>
              </a:ext>
            </a:extLst>
          </p:cNvPr>
          <p:cNvSpPr txBox="1"/>
          <p:nvPr/>
        </p:nvSpPr>
        <p:spPr>
          <a:xfrm>
            <a:off x="4255693" y="2278408"/>
            <a:ext cx="1394613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ko-KR" sz="2600" b="0" i="0" dirty="0">
                <a:solidFill>
                  <a:srgbClr val="003E6A"/>
                </a:solidFill>
                <a:effectLst/>
                <a:latin typeface="Century" panose="02040604050505020304" pitchFamily="18" charset="0"/>
              </a:rPr>
              <a:t>C</a:t>
            </a:r>
            <a:r>
              <a:rPr lang="en-US" altLang="ko-KR" sz="2600" b="0" i="0" dirty="0">
                <a:solidFill>
                  <a:srgbClr val="1598CB"/>
                </a:solidFill>
                <a:effectLst/>
                <a:latin typeface="Century" panose="02040604050505020304" pitchFamily="18" charset="0"/>
              </a:rPr>
              <a:t>ontents</a:t>
            </a:r>
            <a:endParaRPr lang="ko-KR" altLang="en-US" sz="2600" dirty="0">
              <a:solidFill>
                <a:srgbClr val="1598CB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1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endParaRPr lang="ko-KR" altLang="en-US" dirty="0"/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WEB </a:t>
            </a:r>
            <a:r>
              <a:rPr lang="ko-KR" altLang="en-US" smtClean="0"/>
              <a:t>환경 실행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36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394087"/>
            <a:ext cx="4542226" cy="3603089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2354684" cy="166199"/>
          </a:xfrm>
        </p:spPr>
        <p:txBody>
          <a:bodyPr/>
          <a:lstStyle/>
          <a:p>
            <a:r>
              <a:rPr lang="en-US" altLang="ko-KR" dirty="0" err="1" smtClean="0"/>
              <a:t>Aparche</a:t>
            </a:r>
            <a:r>
              <a:rPr lang="en-US" altLang="ko-KR" smtClean="0"/>
              <a:t> Tomcat(WEB) </a:t>
            </a:r>
            <a:r>
              <a:rPr lang="ko-KR" altLang="en-US" dirty="0" smtClean="0"/>
              <a:t>서버 실행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1.1 WEB </a:t>
            </a:r>
            <a:r>
              <a:rPr lang="ko-KR" altLang="en-US" smtClean="0"/>
              <a:t>서버 실행</a:t>
            </a:r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2951449" cy="475130"/>
          </a:xfrm>
        </p:spPr>
        <p:txBody>
          <a:bodyPr/>
          <a:lstStyle/>
          <a:p>
            <a:r>
              <a:rPr lang="ko-KR" altLang="en-US" dirty="0" smtClean="0"/>
              <a:t>바탕화면에 있는 </a:t>
            </a:r>
            <a:r>
              <a:rPr lang="en-US" altLang="ko-KR" dirty="0" err="1" smtClean="0"/>
              <a:t>start_udt_web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파일을 실행</a:t>
            </a:r>
            <a:endParaRPr lang="en-US" altLang="ko-KR" dirty="0" smtClean="0"/>
          </a:p>
          <a:p>
            <a:r>
              <a:rPr lang="en-US" altLang="ko-KR" dirty="0" smtClean="0"/>
              <a:t>WEB </a:t>
            </a:r>
            <a:r>
              <a:rPr lang="ko-KR" altLang="en-US" dirty="0" smtClean="0"/>
              <a:t>서버 정상 시작 확인</a:t>
            </a:r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1. WEB </a:t>
            </a:r>
            <a:r>
              <a:rPr lang="ko-KR" altLang="en-US" smtClean="0"/>
              <a:t>환경 실행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5728272" y="2855123"/>
            <a:ext cx="3429000" cy="1797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148882" y="3126575"/>
            <a:ext cx="204312" cy="198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자유형 33"/>
          <p:cNvSpPr/>
          <p:nvPr/>
        </p:nvSpPr>
        <p:spPr>
          <a:xfrm>
            <a:off x="4953001" y="2394087"/>
            <a:ext cx="4542226" cy="3603089"/>
          </a:xfrm>
          <a:custGeom>
            <a:avLst/>
            <a:gdLst>
              <a:gd name="connsiteX0" fmla="*/ 195881 w 4542226"/>
              <a:gd name="connsiteY0" fmla="*/ 732488 h 3603089"/>
              <a:gd name="connsiteX1" fmla="*/ 195881 w 4542226"/>
              <a:gd name="connsiteY1" fmla="*/ 931181 h 3603089"/>
              <a:gd name="connsiteX2" fmla="*/ 400193 w 4542226"/>
              <a:gd name="connsiteY2" fmla="*/ 931181 h 3603089"/>
              <a:gd name="connsiteX3" fmla="*/ 400193 w 4542226"/>
              <a:gd name="connsiteY3" fmla="*/ 732488 h 3603089"/>
              <a:gd name="connsiteX4" fmla="*/ 775271 w 4542226"/>
              <a:gd name="connsiteY4" fmla="*/ 461036 h 3603089"/>
              <a:gd name="connsiteX5" fmla="*/ 775271 w 4542226"/>
              <a:gd name="connsiteY5" fmla="*/ 2258750 h 3603089"/>
              <a:gd name="connsiteX6" fmla="*/ 4204271 w 4542226"/>
              <a:gd name="connsiteY6" fmla="*/ 2258750 h 3603089"/>
              <a:gd name="connsiteX7" fmla="*/ 4204271 w 4542226"/>
              <a:gd name="connsiteY7" fmla="*/ 461036 h 3603089"/>
              <a:gd name="connsiteX8" fmla="*/ 0 w 4542226"/>
              <a:gd name="connsiteY8" fmla="*/ 0 h 3603089"/>
              <a:gd name="connsiteX9" fmla="*/ 4542226 w 4542226"/>
              <a:gd name="connsiteY9" fmla="*/ 0 h 3603089"/>
              <a:gd name="connsiteX10" fmla="*/ 4542226 w 4542226"/>
              <a:gd name="connsiteY10" fmla="*/ 3603089 h 3603089"/>
              <a:gd name="connsiteX11" fmla="*/ 0 w 4542226"/>
              <a:gd name="connsiteY11" fmla="*/ 3603089 h 360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42226" h="3603089">
                <a:moveTo>
                  <a:pt x="195881" y="732488"/>
                </a:moveTo>
                <a:lnTo>
                  <a:pt x="195881" y="931181"/>
                </a:lnTo>
                <a:lnTo>
                  <a:pt x="400193" y="931181"/>
                </a:lnTo>
                <a:lnTo>
                  <a:pt x="400193" y="732488"/>
                </a:lnTo>
                <a:close/>
                <a:moveTo>
                  <a:pt x="775271" y="461036"/>
                </a:moveTo>
                <a:lnTo>
                  <a:pt x="775271" y="2258750"/>
                </a:lnTo>
                <a:lnTo>
                  <a:pt x="4204271" y="2258750"/>
                </a:lnTo>
                <a:lnTo>
                  <a:pt x="4204271" y="461036"/>
                </a:lnTo>
                <a:close/>
                <a:moveTo>
                  <a:pt x="0" y="0"/>
                </a:moveTo>
                <a:lnTo>
                  <a:pt x="4542226" y="0"/>
                </a:lnTo>
                <a:lnTo>
                  <a:pt x="4542226" y="3603089"/>
                </a:lnTo>
                <a:lnTo>
                  <a:pt x="0" y="3603089"/>
                </a:lnTo>
                <a:close/>
              </a:path>
            </a:pathLst>
          </a:cu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설명선 2 28"/>
          <p:cNvSpPr/>
          <p:nvPr/>
        </p:nvSpPr>
        <p:spPr>
          <a:xfrm>
            <a:off x="7505895" y="1881188"/>
            <a:ext cx="1861101" cy="590145"/>
          </a:xfrm>
          <a:prstGeom prst="borderCallout2">
            <a:avLst>
              <a:gd name="adj1" fmla="val 49948"/>
              <a:gd name="adj2" fmla="val -800"/>
              <a:gd name="adj3" fmla="val 50217"/>
              <a:gd name="adj4" fmla="val -18453"/>
              <a:gd name="adj5" fmla="val 164723"/>
              <a:gd name="adj6" fmla="val -4234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2. WEB </a:t>
            </a:r>
            <a:r>
              <a:rPr lang="ko-KR" altLang="en-US" sz="900" dirty="0" smtClean="0"/>
              <a:t>서버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정상 시작 </a:t>
            </a:r>
            <a:endParaRPr lang="ko-KR" altLang="en-US" sz="900" dirty="0"/>
          </a:p>
        </p:txBody>
      </p:sp>
      <p:sp>
        <p:nvSpPr>
          <p:cNvPr id="28" name="설명선 2 27"/>
          <p:cNvSpPr/>
          <p:nvPr/>
        </p:nvSpPr>
        <p:spPr>
          <a:xfrm>
            <a:off x="2134975" y="2204421"/>
            <a:ext cx="2072550" cy="590145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55039"/>
              <a:gd name="adj6" fmla="val 14599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en-US" altLang="ko-KR" sz="900" dirty="0" err="1" smtClean="0"/>
              <a:t>start_udt_web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파일 더블클릭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2091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370385"/>
            <a:ext cx="4559051" cy="3572811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1584601" cy="166199"/>
          </a:xfrm>
        </p:spPr>
        <p:txBody>
          <a:bodyPr/>
          <a:lstStyle/>
          <a:p>
            <a:r>
              <a:rPr lang="en-US" altLang="ko-KR" dirty="0" smtClean="0"/>
              <a:t>Middleware </a:t>
            </a:r>
            <a:r>
              <a:rPr lang="ko-KR" altLang="en-US" dirty="0" smtClean="0"/>
              <a:t>서버 실행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350838" y="474666"/>
            <a:ext cx="3350533" cy="300147"/>
          </a:xfrm>
        </p:spPr>
        <p:txBody>
          <a:bodyPr/>
          <a:lstStyle/>
          <a:p>
            <a:r>
              <a:rPr lang="en-US" altLang="ko-KR" dirty="0" smtClean="0"/>
              <a:t>1.2 </a:t>
            </a:r>
            <a:r>
              <a:rPr lang="en-US" altLang="ko-KR" dirty="0"/>
              <a:t>Middleware </a:t>
            </a:r>
            <a:r>
              <a:rPr lang="ko-KR" altLang="en-US" dirty="0" smtClean="0"/>
              <a:t>서버 실행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2985113" cy="475130"/>
          </a:xfrm>
        </p:spPr>
        <p:txBody>
          <a:bodyPr/>
          <a:lstStyle/>
          <a:p>
            <a:r>
              <a:rPr lang="ko-KR" altLang="en-US" dirty="0" smtClean="0"/>
              <a:t>바탕화면에 있는 </a:t>
            </a:r>
            <a:r>
              <a:rPr lang="en-US" altLang="ko-KR" dirty="0" err="1"/>
              <a:t>start_udt_middle</a:t>
            </a:r>
            <a:r>
              <a:rPr lang="en-US" altLang="ko-KR" dirty="0"/>
              <a:t> </a:t>
            </a:r>
            <a:r>
              <a:rPr lang="ko-KR" altLang="en-US" dirty="0" smtClean="0"/>
              <a:t>파일 실행</a:t>
            </a:r>
            <a:endParaRPr lang="en-US" altLang="ko-KR" dirty="0" smtClean="0"/>
          </a:p>
          <a:p>
            <a:r>
              <a:rPr lang="en-US" altLang="ko-KR" dirty="0" smtClean="0"/>
              <a:t>Middleware </a:t>
            </a:r>
            <a:r>
              <a:rPr lang="ko-KR" altLang="en-US" dirty="0" smtClean="0"/>
              <a:t>서버 정상 시작 확인</a:t>
            </a:r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1. WEB </a:t>
            </a:r>
            <a:r>
              <a:rPr lang="ko-KR" altLang="en-US" smtClean="0"/>
              <a:t>환경 실행</a:t>
            </a: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125844" y="3341853"/>
            <a:ext cx="185738" cy="198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5737605" y="3022180"/>
            <a:ext cx="3539620" cy="1891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 24"/>
          <p:cNvSpPr/>
          <p:nvPr/>
        </p:nvSpPr>
        <p:spPr>
          <a:xfrm>
            <a:off x="4953000" y="2370385"/>
            <a:ext cx="4559051" cy="3572811"/>
          </a:xfrm>
          <a:custGeom>
            <a:avLst/>
            <a:gdLst>
              <a:gd name="connsiteX0" fmla="*/ 172844 w 4559051"/>
              <a:gd name="connsiteY0" fmla="*/ 971468 h 3572811"/>
              <a:gd name="connsiteX1" fmla="*/ 172844 w 4559051"/>
              <a:gd name="connsiteY1" fmla="*/ 1170161 h 3572811"/>
              <a:gd name="connsiteX2" fmla="*/ 358582 w 4559051"/>
              <a:gd name="connsiteY2" fmla="*/ 1170161 h 3572811"/>
              <a:gd name="connsiteX3" fmla="*/ 358582 w 4559051"/>
              <a:gd name="connsiteY3" fmla="*/ 971468 h 3572811"/>
              <a:gd name="connsiteX4" fmla="*/ 784605 w 4559051"/>
              <a:gd name="connsiteY4" fmla="*/ 651795 h 3572811"/>
              <a:gd name="connsiteX5" fmla="*/ 784605 w 4559051"/>
              <a:gd name="connsiteY5" fmla="*/ 2543365 h 3572811"/>
              <a:gd name="connsiteX6" fmla="*/ 4324225 w 4559051"/>
              <a:gd name="connsiteY6" fmla="*/ 2543365 h 3572811"/>
              <a:gd name="connsiteX7" fmla="*/ 4324225 w 4559051"/>
              <a:gd name="connsiteY7" fmla="*/ 651795 h 3572811"/>
              <a:gd name="connsiteX8" fmla="*/ 0 w 4559051"/>
              <a:gd name="connsiteY8" fmla="*/ 0 h 3572811"/>
              <a:gd name="connsiteX9" fmla="*/ 4559051 w 4559051"/>
              <a:gd name="connsiteY9" fmla="*/ 0 h 3572811"/>
              <a:gd name="connsiteX10" fmla="*/ 4559051 w 4559051"/>
              <a:gd name="connsiteY10" fmla="*/ 3572811 h 3572811"/>
              <a:gd name="connsiteX11" fmla="*/ 0 w 4559051"/>
              <a:gd name="connsiteY11" fmla="*/ 3572811 h 3572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59051" h="3572811">
                <a:moveTo>
                  <a:pt x="172844" y="971468"/>
                </a:moveTo>
                <a:lnTo>
                  <a:pt x="172844" y="1170161"/>
                </a:lnTo>
                <a:lnTo>
                  <a:pt x="358582" y="1170161"/>
                </a:lnTo>
                <a:lnTo>
                  <a:pt x="358582" y="971468"/>
                </a:lnTo>
                <a:close/>
                <a:moveTo>
                  <a:pt x="784605" y="651795"/>
                </a:moveTo>
                <a:lnTo>
                  <a:pt x="784605" y="2543365"/>
                </a:lnTo>
                <a:lnTo>
                  <a:pt x="4324225" y="2543365"/>
                </a:lnTo>
                <a:lnTo>
                  <a:pt x="4324225" y="651795"/>
                </a:lnTo>
                <a:close/>
                <a:moveTo>
                  <a:pt x="0" y="0"/>
                </a:moveTo>
                <a:lnTo>
                  <a:pt x="4559051" y="0"/>
                </a:lnTo>
                <a:lnTo>
                  <a:pt x="4559051" y="3572811"/>
                </a:lnTo>
                <a:lnTo>
                  <a:pt x="0" y="3572811"/>
                </a:lnTo>
                <a:close/>
              </a:path>
            </a:pathLst>
          </a:cu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설명선 2 13"/>
          <p:cNvSpPr/>
          <p:nvPr/>
        </p:nvSpPr>
        <p:spPr>
          <a:xfrm>
            <a:off x="7280970" y="2040013"/>
            <a:ext cx="1861101" cy="590145"/>
          </a:xfrm>
          <a:prstGeom prst="borderCallout2">
            <a:avLst>
              <a:gd name="adj1" fmla="val 49948"/>
              <a:gd name="adj2" fmla="val -800"/>
              <a:gd name="adj3" fmla="val 50217"/>
              <a:gd name="adj4" fmla="val -18453"/>
              <a:gd name="adj5" fmla="val 164723"/>
              <a:gd name="adj6" fmla="val -4234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2. Middleware </a:t>
            </a:r>
            <a:r>
              <a:rPr lang="ko-KR" altLang="en-US" sz="900" dirty="0" smtClean="0"/>
              <a:t>서버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정상 시작 </a:t>
            </a:r>
            <a:endParaRPr lang="ko-KR" altLang="en-US" sz="900" dirty="0"/>
          </a:p>
        </p:txBody>
      </p:sp>
      <p:sp>
        <p:nvSpPr>
          <p:cNvPr id="9" name="설명선 2 8"/>
          <p:cNvSpPr/>
          <p:nvPr/>
        </p:nvSpPr>
        <p:spPr>
          <a:xfrm>
            <a:off x="2104695" y="2395641"/>
            <a:ext cx="2072550" cy="590145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55039"/>
              <a:gd name="adj6" fmla="val 14599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en-US" altLang="ko-KR" sz="900" dirty="0" err="1" smtClean="0"/>
              <a:t>start_udt_middle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파일 더블클릭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9218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mtClean="0"/>
              <a:t>2</a:t>
            </a:r>
            <a:endParaRPr lang="ko-KR" altLang="en-US" dirty="0"/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WEB </a:t>
            </a:r>
            <a:r>
              <a:rPr lang="ko-KR" altLang="en-US" smtClean="0"/>
              <a:t>서비스 페이지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688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771397"/>
            <a:ext cx="4603235" cy="3166634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6721303" y="4082589"/>
            <a:ext cx="1094346" cy="347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mtClean="0"/>
              <a:t>로그인페이지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2.1 </a:t>
            </a:r>
            <a:r>
              <a:rPr lang="ko-KR" altLang="en-US" smtClean="0"/>
              <a:t>로그인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2637260" cy="221214"/>
          </a:xfrm>
        </p:spPr>
        <p:txBody>
          <a:bodyPr/>
          <a:lstStyle/>
          <a:p>
            <a:r>
              <a:rPr lang="ko-KR" altLang="en-US" dirty="0" smtClean="0"/>
              <a:t>아이디와 비밀번호를 입력하여 로그인</a:t>
            </a:r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2. WEB </a:t>
            </a:r>
            <a:r>
              <a:rPr lang="ko-KR" altLang="en-US" smtClean="0"/>
              <a:t>서비스 페이지</a:t>
            </a:r>
            <a:endParaRPr lang="ko-KR" altLang="en-US" dirty="0"/>
          </a:p>
        </p:txBody>
      </p:sp>
      <p:sp>
        <p:nvSpPr>
          <p:cNvPr id="14" name="자유형 13"/>
          <p:cNvSpPr/>
          <p:nvPr/>
        </p:nvSpPr>
        <p:spPr>
          <a:xfrm>
            <a:off x="4966858" y="2771397"/>
            <a:ext cx="4603236" cy="3166634"/>
          </a:xfrm>
          <a:custGeom>
            <a:avLst/>
            <a:gdLst>
              <a:gd name="connsiteX0" fmla="*/ 1754445 w 4603236"/>
              <a:gd name="connsiteY0" fmla="*/ 1311192 h 3166634"/>
              <a:gd name="connsiteX1" fmla="*/ 1754445 w 4603236"/>
              <a:gd name="connsiteY1" fmla="*/ 1658500 h 3166634"/>
              <a:gd name="connsiteX2" fmla="*/ 2848791 w 4603236"/>
              <a:gd name="connsiteY2" fmla="*/ 1658500 h 3166634"/>
              <a:gd name="connsiteX3" fmla="*/ 2848791 w 4603236"/>
              <a:gd name="connsiteY3" fmla="*/ 1311192 h 3166634"/>
              <a:gd name="connsiteX4" fmla="*/ 0 w 4603236"/>
              <a:gd name="connsiteY4" fmla="*/ 0 h 3166634"/>
              <a:gd name="connsiteX5" fmla="*/ 4603236 w 4603236"/>
              <a:gd name="connsiteY5" fmla="*/ 0 h 3166634"/>
              <a:gd name="connsiteX6" fmla="*/ 4603236 w 4603236"/>
              <a:gd name="connsiteY6" fmla="*/ 3166634 h 3166634"/>
              <a:gd name="connsiteX7" fmla="*/ 0 w 4603236"/>
              <a:gd name="connsiteY7" fmla="*/ 3166634 h 316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03236" h="3166634">
                <a:moveTo>
                  <a:pt x="1754445" y="1311192"/>
                </a:moveTo>
                <a:lnTo>
                  <a:pt x="1754445" y="1658500"/>
                </a:lnTo>
                <a:lnTo>
                  <a:pt x="2848791" y="1658500"/>
                </a:lnTo>
                <a:lnTo>
                  <a:pt x="2848791" y="1311192"/>
                </a:lnTo>
                <a:close/>
                <a:moveTo>
                  <a:pt x="0" y="0"/>
                </a:moveTo>
                <a:lnTo>
                  <a:pt x="4603236" y="0"/>
                </a:lnTo>
                <a:lnTo>
                  <a:pt x="4603236" y="3166634"/>
                </a:lnTo>
                <a:lnTo>
                  <a:pt x="0" y="3166634"/>
                </a:lnTo>
                <a:close/>
              </a:path>
            </a:pathLst>
          </a:cu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설명선 2 8"/>
          <p:cNvSpPr/>
          <p:nvPr/>
        </p:nvSpPr>
        <p:spPr>
          <a:xfrm>
            <a:off x="4022449" y="3168309"/>
            <a:ext cx="1861101" cy="590145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55039"/>
              <a:gd name="adj6" fmla="val 14599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ko-KR" altLang="en-US" sz="900" dirty="0" smtClean="0"/>
              <a:t>아이디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및 비밀번호 입력</a:t>
            </a:r>
            <a:endParaRPr lang="en-US" altLang="ko-KR" sz="900" dirty="0"/>
          </a:p>
          <a:p>
            <a:pPr algn="ctr"/>
            <a:r>
              <a:rPr lang="en-US" altLang="ko-KR" sz="900" dirty="0" smtClean="0"/>
              <a:t>ID : </a:t>
            </a:r>
            <a:r>
              <a:rPr lang="en-US" altLang="ko-KR" sz="900" dirty="0" err="1" smtClean="0"/>
              <a:t>sysadmin</a:t>
            </a:r>
            <a:endParaRPr lang="en-US" altLang="ko-KR" sz="900" dirty="0" smtClean="0"/>
          </a:p>
          <a:p>
            <a:pPr algn="ctr"/>
            <a:r>
              <a:rPr lang="en-US" altLang="ko-KR" sz="900" dirty="0" smtClean="0"/>
              <a:t>PW : sysadmin1!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99850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1131720" cy="166199"/>
          </a:xfrm>
        </p:spPr>
        <p:txBody>
          <a:bodyPr/>
          <a:lstStyle/>
          <a:p>
            <a:r>
              <a:rPr lang="ko-KR" altLang="en-US" dirty="0" smtClean="0"/>
              <a:t>대시보드 페이지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350838" y="474666"/>
            <a:ext cx="1599797" cy="300147"/>
          </a:xfrm>
        </p:spPr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대시보드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3171061" cy="1777410"/>
          </a:xfrm>
        </p:spPr>
        <p:txBody>
          <a:bodyPr/>
          <a:lstStyle/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연계 누적 통계 정보 조회</a:t>
            </a:r>
            <a:endParaRPr lang="en-US" altLang="ko-KR" dirty="0" smtClean="0"/>
          </a:p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연계 요약 정보 조회</a:t>
            </a:r>
            <a:endParaRPr lang="en-US" altLang="ko-KR" dirty="0" smtClean="0"/>
          </a:p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연계 정보 수동 갱신 기능</a:t>
            </a:r>
            <a:endParaRPr lang="en-US" altLang="ko-KR" dirty="0" smtClean="0"/>
          </a:p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연계</a:t>
            </a:r>
            <a:r>
              <a:rPr lang="en-US" altLang="ko-KR" dirty="0" smtClean="0"/>
              <a:t>·</a:t>
            </a:r>
            <a:r>
              <a:rPr lang="ko-KR" altLang="en-US" dirty="0" smtClean="0"/>
              <a:t>이력 현황 조회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 smtClean="0"/>
              <a:t>가</a:t>
            </a:r>
            <a:r>
              <a:rPr lang="en-US" altLang="ko-KR" dirty="0"/>
              <a:t>. </a:t>
            </a:r>
            <a:r>
              <a:rPr lang="ko-KR" altLang="en-US" dirty="0" smtClean="0"/>
              <a:t>상세보기 버튼 클릭으로 연계</a:t>
            </a:r>
            <a:r>
              <a:rPr lang="en-US" altLang="ko-KR" dirty="0" smtClean="0"/>
              <a:t>·</a:t>
            </a:r>
            <a:r>
              <a:rPr lang="ko-KR" altLang="en-US" dirty="0" smtClean="0"/>
              <a:t>이력 </a:t>
            </a:r>
            <a:r>
              <a:rPr lang="ko-KR" altLang="en-US" dirty="0" err="1" smtClean="0"/>
              <a:t>상세조회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 smtClean="0"/>
              <a:t>나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오류내용</a:t>
            </a:r>
            <a:r>
              <a:rPr lang="ko-KR" altLang="en-US" dirty="0" smtClean="0"/>
              <a:t> 버튼 클릭으로 </a:t>
            </a:r>
            <a:r>
              <a:rPr lang="ko-KR" altLang="en-US" dirty="0" err="1" smtClean="0"/>
              <a:t>오류로그</a:t>
            </a:r>
            <a:r>
              <a:rPr lang="ko-KR" altLang="en-US" dirty="0" smtClean="0"/>
              <a:t> 조회</a:t>
            </a:r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2. WEB </a:t>
            </a:r>
            <a:r>
              <a:rPr lang="ko-KR" altLang="en-US" smtClean="0"/>
              <a:t>서비스 페이지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192992"/>
            <a:ext cx="4609592" cy="3741077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5156863" y="2655093"/>
            <a:ext cx="2071840" cy="1175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7300760" y="2655093"/>
            <a:ext cx="2071840" cy="869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 flipV="1">
            <a:off x="8747457" y="3677183"/>
            <a:ext cx="625144" cy="153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5156862" y="3937712"/>
            <a:ext cx="4215737" cy="1673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자유형 38"/>
          <p:cNvSpPr/>
          <p:nvPr/>
        </p:nvSpPr>
        <p:spPr>
          <a:xfrm>
            <a:off x="4953000" y="2192992"/>
            <a:ext cx="4602163" cy="3741077"/>
          </a:xfrm>
          <a:custGeom>
            <a:avLst/>
            <a:gdLst>
              <a:gd name="connsiteX0" fmla="*/ 203862 w 4602163"/>
              <a:gd name="connsiteY0" fmla="*/ 1744720 h 3741077"/>
              <a:gd name="connsiteX1" fmla="*/ 203862 w 4602163"/>
              <a:gd name="connsiteY1" fmla="*/ 3418428 h 3741077"/>
              <a:gd name="connsiteX2" fmla="*/ 4419599 w 4602163"/>
              <a:gd name="connsiteY2" fmla="*/ 3418428 h 3741077"/>
              <a:gd name="connsiteX3" fmla="*/ 4419599 w 4602163"/>
              <a:gd name="connsiteY3" fmla="*/ 1744720 h 3741077"/>
              <a:gd name="connsiteX4" fmla="*/ 3794457 w 4602163"/>
              <a:gd name="connsiteY4" fmla="*/ 1484191 h 3741077"/>
              <a:gd name="connsiteX5" fmla="*/ 3794457 w 4602163"/>
              <a:gd name="connsiteY5" fmla="*/ 1637336 h 3741077"/>
              <a:gd name="connsiteX6" fmla="*/ 4419599 w 4602163"/>
              <a:gd name="connsiteY6" fmla="*/ 1637336 h 3741077"/>
              <a:gd name="connsiteX7" fmla="*/ 4419599 w 4602163"/>
              <a:gd name="connsiteY7" fmla="*/ 1484191 h 3741077"/>
              <a:gd name="connsiteX8" fmla="*/ 203862 w 4602163"/>
              <a:gd name="connsiteY8" fmla="*/ 462101 h 3741077"/>
              <a:gd name="connsiteX9" fmla="*/ 203862 w 4602163"/>
              <a:gd name="connsiteY9" fmla="*/ 1637336 h 3741077"/>
              <a:gd name="connsiteX10" fmla="*/ 2275703 w 4602163"/>
              <a:gd name="connsiteY10" fmla="*/ 1637336 h 3741077"/>
              <a:gd name="connsiteX11" fmla="*/ 2275703 w 4602163"/>
              <a:gd name="connsiteY11" fmla="*/ 462101 h 3741077"/>
              <a:gd name="connsiteX12" fmla="*/ 2347760 w 4602163"/>
              <a:gd name="connsiteY12" fmla="*/ 462100 h 3741077"/>
              <a:gd name="connsiteX13" fmla="*/ 2347760 w 4602163"/>
              <a:gd name="connsiteY13" fmla="*/ 1331791 h 3741077"/>
              <a:gd name="connsiteX14" fmla="*/ 4419599 w 4602163"/>
              <a:gd name="connsiteY14" fmla="*/ 1331791 h 3741077"/>
              <a:gd name="connsiteX15" fmla="*/ 4419599 w 4602163"/>
              <a:gd name="connsiteY15" fmla="*/ 462100 h 3741077"/>
              <a:gd name="connsiteX16" fmla="*/ 0 w 4602163"/>
              <a:gd name="connsiteY16" fmla="*/ 0 h 3741077"/>
              <a:gd name="connsiteX17" fmla="*/ 4602163 w 4602163"/>
              <a:gd name="connsiteY17" fmla="*/ 0 h 3741077"/>
              <a:gd name="connsiteX18" fmla="*/ 4602163 w 4602163"/>
              <a:gd name="connsiteY18" fmla="*/ 3741077 h 3741077"/>
              <a:gd name="connsiteX19" fmla="*/ 0 w 4602163"/>
              <a:gd name="connsiteY19" fmla="*/ 3741077 h 3741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602163" h="3741077">
                <a:moveTo>
                  <a:pt x="203862" y="1744720"/>
                </a:moveTo>
                <a:lnTo>
                  <a:pt x="203862" y="3418428"/>
                </a:lnTo>
                <a:lnTo>
                  <a:pt x="4419599" y="3418428"/>
                </a:lnTo>
                <a:lnTo>
                  <a:pt x="4419599" y="1744720"/>
                </a:lnTo>
                <a:close/>
                <a:moveTo>
                  <a:pt x="3794457" y="1484191"/>
                </a:moveTo>
                <a:lnTo>
                  <a:pt x="3794457" y="1637336"/>
                </a:lnTo>
                <a:lnTo>
                  <a:pt x="4419599" y="1637336"/>
                </a:lnTo>
                <a:lnTo>
                  <a:pt x="4419599" y="1484191"/>
                </a:lnTo>
                <a:close/>
                <a:moveTo>
                  <a:pt x="203862" y="462101"/>
                </a:moveTo>
                <a:lnTo>
                  <a:pt x="203862" y="1637336"/>
                </a:lnTo>
                <a:lnTo>
                  <a:pt x="2275703" y="1637336"/>
                </a:lnTo>
                <a:lnTo>
                  <a:pt x="2275703" y="462101"/>
                </a:lnTo>
                <a:close/>
                <a:moveTo>
                  <a:pt x="2347760" y="462100"/>
                </a:moveTo>
                <a:lnTo>
                  <a:pt x="2347760" y="1331791"/>
                </a:lnTo>
                <a:lnTo>
                  <a:pt x="4419599" y="1331791"/>
                </a:lnTo>
                <a:lnTo>
                  <a:pt x="4419599" y="462100"/>
                </a:lnTo>
                <a:close/>
                <a:moveTo>
                  <a:pt x="0" y="0"/>
                </a:moveTo>
                <a:lnTo>
                  <a:pt x="4602163" y="0"/>
                </a:lnTo>
                <a:lnTo>
                  <a:pt x="4602163" y="3741077"/>
                </a:lnTo>
                <a:lnTo>
                  <a:pt x="0" y="3741077"/>
                </a:lnTo>
                <a:close/>
              </a:path>
            </a:pathLst>
          </a:cu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설명선 2 40"/>
          <p:cNvSpPr/>
          <p:nvPr/>
        </p:nvSpPr>
        <p:spPr>
          <a:xfrm>
            <a:off x="5989627" y="1864788"/>
            <a:ext cx="1742721" cy="499866"/>
          </a:xfrm>
          <a:prstGeom prst="borderCallout2">
            <a:avLst>
              <a:gd name="adj1" fmla="val 50988"/>
              <a:gd name="adj2" fmla="val 100102"/>
              <a:gd name="adj3" fmla="val 51257"/>
              <a:gd name="adj4" fmla="val 119381"/>
              <a:gd name="adj5" fmla="val 154325"/>
              <a:gd name="adj6" fmla="val 14231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2.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연계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요약 정보 조회</a:t>
            </a:r>
            <a:endParaRPr lang="ko-KR" altLang="en-US" sz="900" dirty="0"/>
          </a:p>
        </p:txBody>
      </p:sp>
      <p:sp>
        <p:nvSpPr>
          <p:cNvPr id="31" name="설명선 2 30"/>
          <p:cNvSpPr/>
          <p:nvPr/>
        </p:nvSpPr>
        <p:spPr>
          <a:xfrm>
            <a:off x="2979289" y="2908868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25956"/>
              <a:gd name="adj6" fmla="val 1441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연계 누적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통계 정보 조회</a:t>
            </a:r>
            <a:endParaRPr lang="ko-KR" altLang="en-US" sz="900" dirty="0"/>
          </a:p>
        </p:txBody>
      </p:sp>
      <p:sp>
        <p:nvSpPr>
          <p:cNvPr id="42" name="설명선 2 41"/>
          <p:cNvSpPr/>
          <p:nvPr/>
        </p:nvSpPr>
        <p:spPr>
          <a:xfrm>
            <a:off x="6680436" y="3601729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32322"/>
              <a:gd name="adj6" fmla="val 13642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3.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연계 정보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수동 갱신</a:t>
            </a:r>
            <a:endParaRPr lang="ko-KR" altLang="en-US" sz="900" dirty="0"/>
          </a:p>
        </p:txBody>
      </p:sp>
      <p:sp>
        <p:nvSpPr>
          <p:cNvPr id="45" name="설명선 2 44"/>
          <p:cNvSpPr/>
          <p:nvPr/>
        </p:nvSpPr>
        <p:spPr>
          <a:xfrm>
            <a:off x="2959862" y="4303143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25956"/>
              <a:gd name="adj6" fmla="val 1441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4.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연계</a:t>
            </a:r>
            <a:r>
              <a:rPr lang="en-US" altLang="ko-KR" sz="900" dirty="0" smtClean="0"/>
              <a:t>·</a:t>
            </a:r>
            <a:r>
              <a:rPr lang="ko-KR" altLang="en-US" sz="900" dirty="0" smtClean="0"/>
              <a:t>이력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현황 조회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31332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1524456" cy="166199"/>
          </a:xfrm>
        </p:spPr>
        <p:txBody>
          <a:bodyPr/>
          <a:lstStyle/>
          <a:p>
            <a:r>
              <a:rPr lang="en-US" altLang="ko-KR" dirty="0" err="1" smtClean="0"/>
              <a:t>OpenAPI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수집 페이지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350838" y="474666"/>
            <a:ext cx="3047309" cy="300147"/>
          </a:xfrm>
        </p:spPr>
        <p:txBody>
          <a:bodyPr/>
          <a:lstStyle/>
          <a:p>
            <a:r>
              <a:rPr lang="en-US" altLang="ko-KR" dirty="0" smtClean="0"/>
              <a:t>2.3 </a:t>
            </a:r>
            <a:r>
              <a:rPr lang="en-US" altLang="ko-KR" dirty="0" err="1" smtClean="0"/>
              <a:t>OpenAPI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수집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3627916" cy="1777410"/>
          </a:xfrm>
        </p:spPr>
        <p:txBody>
          <a:bodyPr/>
          <a:lstStyle/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생성 화면 호출 </a:t>
            </a:r>
            <a:endParaRPr lang="en-US" altLang="ko-KR" dirty="0" smtClean="0"/>
          </a:p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상세 페이지 호출</a:t>
            </a:r>
            <a:endParaRPr lang="en-US" altLang="ko-KR" dirty="0" smtClean="0"/>
          </a:p>
          <a:p>
            <a:r>
              <a:rPr lang="ko-KR" altLang="en-US" dirty="0" err="1" smtClean="0"/>
              <a:t>데이터셋의</a:t>
            </a:r>
            <a:r>
              <a:rPr lang="ko-KR" altLang="en-US" dirty="0" smtClean="0"/>
              <a:t> 데이터 수집 스케줄 구동을 제어 </a:t>
            </a:r>
            <a:r>
              <a:rPr lang="en-US" altLang="ko-KR" dirty="0" smtClean="0"/>
              <a:t>(ON/OFF)</a:t>
            </a:r>
          </a:p>
          <a:p>
            <a:r>
              <a:rPr lang="ko-KR" altLang="en-US" dirty="0" smtClean="0"/>
              <a:t>데이터 수집을 즉시 </a:t>
            </a:r>
            <a:r>
              <a:rPr lang="en-US" altLang="ko-KR" dirty="0" smtClean="0"/>
              <a:t>1</a:t>
            </a:r>
            <a:r>
              <a:rPr lang="ko-KR" altLang="en-US" dirty="0" smtClean="0"/>
              <a:t>회 수행</a:t>
            </a:r>
            <a:endParaRPr lang="en-US" altLang="ko-KR" dirty="0" smtClean="0"/>
          </a:p>
          <a:p>
            <a:r>
              <a:rPr lang="ko-KR" altLang="en-US" dirty="0" smtClean="0"/>
              <a:t>해당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삭제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2. WEB </a:t>
            </a:r>
            <a:r>
              <a:rPr lang="ko-KR" altLang="en-US" smtClean="0"/>
              <a:t>서비스 페이지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173971"/>
            <a:ext cx="4614651" cy="3742369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7460535" y="3058093"/>
            <a:ext cx="272503" cy="902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8836172" y="3058093"/>
            <a:ext cx="381505" cy="902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8659550" y="2628144"/>
            <a:ext cx="558127" cy="211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151698" y="3058093"/>
            <a:ext cx="266447" cy="902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479655" y="3058093"/>
            <a:ext cx="877746" cy="902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 28"/>
          <p:cNvSpPr/>
          <p:nvPr/>
        </p:nvSpPr>
        <p:spPr>
          <a:xfrm>
            <a:off x="4959243" y="2173971"/>
            <a:ext cx="4602163" cy="3742369"/>
          </a:xfrm>
          <a:custGeom>
            <a:avLst/>
            <a:gdLst>
              <a:gd name="connsiteX0" fmla="*/ 3870684 w 4602163"/>
              <a:gd name="connsiteY0" fmla="*/ 884122 h 3742369"/>
              <a:gd name="connsiteX1" fmla="*/ 3870684 w 4602163"/>
              <a:gd name="connsiteY1" fmla="*/ 1786410 h 3742369"/>
              <a:gd name="connsiteX2" fmla="*/ 4258434 w 4602163"/>
              <a:gd name="connsiteY2" fmla="*/ 1786410 h 3742369"/>
              <a:gd name="connsiteX3" fmla="*/ 4258434 w 4602163"/>
              <a:gd name="connsiteY3" fmla="*/ 884122 h 3742369"/>
              <a:gd name="connsiteX4" fmla="*/ 2495047 w 4602163"/>
              <a:gd name="connsiteY4" fmla="*/ 884122 h 3742369"/>
              <a:gd name="connsiteX5" fmla="*/ 2495047 w 4602163"/>
              <a:gd name="connsiteY5" fmla="*/ 1786410 h 3742369"/>
              <a:gd name="connsiteX6" fmla="*/ 2773795 w 4602163"/>
              <a:gd name="connsiteY6" fmla="*/ 1786410 h 3742369"/>
              <a:gd name="connsiteX7" fmla="*/ 2773795 w 4602163"/>
              <a:gd name="connsiteY7" fmla="*/ 884122 h 3742369"/>
              <a:gd name="connsiteX8" fmla="*/ 2192455 w 4602163"/>
              <a:gd name="connsiteY8" fmla="*/ 884122 h 3742369"/>
              <a:gd name="connsiteX9" fmla="*/ 2192455 w 4602163"/>
              <a:gd name="connsiteY9" fmla="*/ 1786410 h 3742369"/>
              <a:gd name="connsiteX10" fmla="*/ 2458902 w 4602163"/>
              <a:gd name="connsiteY10" fmla="*/ 1786410 h 3742369"/>
              <a:gd name="connsiteX11" fmla="*/ 2458902 w 4602163"/>
              <a:gd name="connsiteY11" fmla="*/ 884122 h 3742369"/>
              <a:gd name="connsiteX12" fmla="*/ 517459 w 4602163"/>
              <a:gd name="connsiteY12" fmla="*/ 884122 h 3742369"/>
              <a:gd name="connsiteX13" fmla="*/ 517459 w 4602163"/>
              <a:gd name="connsiteY13" fmla="*/ 1786410 h 3742369"/>
              <a:gd name="connsiteX14" fmla="*/ 1398158 w 4602163"/>
              <a:gd name="connsiteY14" fmla="*/ 1786410 h 3742369"/>
              <a:gd name="connsiteX15" fmla="*/ 1398158 w 4602163"/>
              <a:gd name="connsiteY15" fmla="*/ 884122 h 3742369"/>
              <a:gd name="connsiteX16" fmla="*/ 3700307 w 4602163"/>
              <a:gd name="connsiteY16" fmla="*/ 454173 h 3742369"/>
              <a:gd name="connsiteX17" fmla="*/ 3700307 w 4602163"/>
              <a:gd name="connsiteY17" fmla="*/ 666119 h 3742369"/>
              <a:gd name="connsiteX18" fmla="*/ 4258434 w 4602163"/>
              <a:gd name="connsiteY18" fmla="*/ 666119 h 3742369"/>
              <a:gd name="connsiteX19" fmla="*/ 4258434 w 4602163"/>
              <a:gd name="connsiteY19" fmla="*/ 454173 h 3742369"/>
              <a:gd name="connsiteX20" fmla="*/ 0 w 4602163"/>
              <a:gd name="connsiteY20" fmla="*/ 0 h 3742369"/>
              <a:gd name="connsiteX21" fmla="*/ 4602163 w 4602163"/>
              <a:gd name="connsiteY21" fmla="*/ 0 h 3742369"/>
              <a:gd name="connsiteX22" fmla="*/ 4602163 w 4602163"/>
              <a:gd name="connsiteY22" fmla="*/ 3742369 h 3742369"/>
              <a:gd name="connsiteX23" fmla="*/ 0 w 4602163"/>
              <a:gd name="connsiteY23" fmla="*/ 3742369 h 374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602163" h="3742369">
                <a:moveTo>
                  <a:pt x="3870684" y="884122"/>
                </a:moveTo>
                <a:lnTo>
                  <a:pt x="3870684" y="1786410"/>
                </a:lnTo>
                <a:lnTo>
                  <a:pt x="4258434" y="1786410"/>
                </a:lnTo>
                <a:lnTo>
                  <a:pt x="4258434" y="884122"/>
                </a:lnTo>
                <a:close/>
                <a:moveTo>
                  <a:pt x="2495047" y="884122"/>
                </a:moveTo>
                <a:lnTo>
                  <a:pt x="2495047" y="1786410"/>
                </a:lnTo>
                <a:lnTo>
                  <a:pt x="2773795" y="1786410"/>
                </a:lnTo>
                <a:lnTo>
                  <a:pt x="2773795" y="884122"/>
                </a:lnTo>
                <a:close/>
                <a:moveTo>
                  <a:pt x="2192455" y="884122"/>
                </a:moveTo>
                <a:lnTo>
                  <a:pt x="2192455" y="1786410"/>
                </a:lnTo>
                <a:lnTo>
                  <a:pt x="2458902" y="1786410"/>
                </a:lnTo>
                <a:lnTo>
                  <a:pt x="2458902" y="884122"/>
                </a:lnTo>
                <a:close/>
                <a:moveTo>
                  <a:pt x="517459" y="884122"/>
                </a:moveTo>
                <a:lnTo>
                  <a:pt x="517459" y="1786410"/>
                </a:lnTo>
                <a:lnTo>
                  <a:pt x="1398158" y="1786410"/>
                </a:lnTo>
                <a:lnTo>
                  <a:pt x="1398158" y="884122"/>
                </a:lnTo>
                <a:close/>
                <a:moveTo>
                  <a:pt x="3700307" y="454173"/>
                </a:moveTo>
                <a:lnTo>
                  <a:pt x="3700307" y="666119"/>
                </a:lnTo>
                <a:lnTo>
                  <a:pt x="4258434" y="666119"/>
                </a:lnTo>
                <a:lnTo>
                  <a:pt x="4258434" y="454173"/>
                </a:lnTo>
                <a:close/>
                <a:moveTo>
                  <a:pt x="0" y="0"/>
                </a:moveTo>
                <a:lnTo>
                  <a:pt x="4602163" y="0"/>
                </a:lnTo>
                <a:lnTo>
                  <a:pt x="4602163" y="3742369"/>
                </a:lnTo>
                <a:lnTo>
                  <a:pt x="0" y="3742369"/>
                </a:lnTo>
                <a:close/>
              </a:path>
            </a:pathLst>
          </a:cu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설명선 2 20"/>
          <p:cNvSpPr/>
          <p:nvPr/>
        </p:nvSpPr>
        <p:spPr>
          <a:xfrm>
            <a:off x="3306292" y="3058093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25956"/>
              <a:gd name="adj6" fmla="val 1441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2.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상세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페이지 호출</a:t>
            </a:r>
            <a:endParaRPr lang="ko-KR" altLang="en-US" sz="900" dirty="0"/>
          </a:p>
        </p:txBody>
      </p:sp>
      <p:sp>
        <p:nvSpPr>
          <p:cNvPr id="30" name="설명선 2 29"/>
          <p:cNvSpPr/>
          <p:nvPr/>
        </p:nvSpPr>
        <p:spPr>
          <a:xfrm>
            <a:off x="6777177" y="2017534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25956"/>
              <a:gd name="adj6" fmla="val 1441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생성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화면 호출</a:t>
            </a:r>
            <a:endParaRPr lang="ko-KR" altLang="en-US" sz="900" dirty="0"/>
          </a:p>
        </p:txBody>
      </p:sp>
      <p:sp>
        <p:nvSpPr>
          <p:cNvPr id="31" name="설명선 2 30"/>
          <p:cNvSpPr/>
          <p:nvPr/>
        </p:nvSpPr>
        <p:spPr>
          <a:xfrm>
            <a:off x="5522044" y="4116818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11710"/>
              <a:gd name="adj5" fmla="val -32253"/>
              <a:gd name="adj6" fmla="val 11766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3. </a:t>
            </a:r>
            <a:r>
              <a:rPr lang="ko-KR" altLang="en-US" sz="900" dirty="0" smtClean="0"/>
              <a:t>데이터 수집 스케줄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구동 제어</a:t>
            </a:r>
            <a:endParaRPr lang="ko-KR" altLang="en-US" sz="900" dirty="0"/>
          </a:p>
        </p:txBody>
      </p:sp>
      <p:sp>
        <p:nvSpPr>
          <p:cNvPr id="34" name="설명선 2 33"/>
          <p:cNvSpPr/>
          <p:nvPr/>
        </p:nvSpPr>
        <p:spPr>
          <a:xfrm>
            <a:off x="5522044" y="4699133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11710"/>
              <a:gd name="adj5" fmla="val -155023"/>
              <a:gd name="adj6" fmla="val 1385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4. </a:t>
            </a:r>
            <a:r>
              <a:rPr lang="ko-KR" altLang="en-US" sz="900" dirty="0" smtClean="0"/>
              <a:t>데이터 수집 수동 실행</a:t>
            </a:r>
            <a:endParaRPr lang="ko-KR" altLang="en-US" sz="900" dirty="0"/>
          </a:p>
        </p:txBody>
      </p:sp>
      <p:sp>
        <p:nvSpPr>
          <p:cNvPr id="35" name="설명선 2 34"/>
          <p:cNvSpPr/>
          <p:nvPr/>
        </p:nvSpPr>
        <p:spPr>
          <a:xfrm>
            <a:off x="7662389" y="4283259"/>
            <a:ext cx="1063772" cy="478454"/>
          </a:xfrm>
          <a:prstGeom prst="borderCallout2">
            <a:avLst>
              <a:gd name="adj1" fmla="val 49948"/>
              <a:gd name="adj2" fmla="val 100279"/>
              <a:gd name="adj3" fmla="val 48951"/>
              <a:gd name="adj4" fmla="val 113987"/>
              <a:gd name="adj5" fmla="val -61364"/>
              <a:gd name="adj6" fmla="val 12699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5.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삭제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84918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2261838" cy="166199"/>
          </a:xfrm>
        </p:spPr>
        <p:txBody>
          <a:bodyPr/>
          <a:lstStyle/>
          <a:p>
            <a:r>
              <a:rPr lang="en-US" altLang="ko-KR" dirty="0" err="1" smtClean="0"/>
              <a:t>OpenAPI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수집 상세</a:t>
            </a:r>
            <a:r>
              <a:rPr lang="en-US" altLang="ko-KR" dirty="0" smtClean="0"/>
              <a:t>/</a:t>
            </a:r>
            <a:r>
              <a:rPr lang="ko-KR" altLang="en-US" dirty="0" smtClean="0"/>
              <a:t>등록 페이지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350838" y="474666"/>
            <a:ext cx="3047309" cy="300147"/>
          </a:xfrm>
        </p:spPr>
        <p:txBody>
          <a:bodyPr/>
          <a:lstStyle/>
          <a:p>
            <a:r>
              <a:rPr lang="en-US" altLang="ko-KR" dirty="0" smtClean="0"/>
              <a:t>2.4 </a:t>
            </a:r>
            <a:r>
              <a:rPr lang="en-US" altLang="ko-KR" dirty="0" err="1" smtClean="0"/>
              <a:t>OpenAPI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수집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2686954" cy="1269578"/>
          </a:xfrm>
        </p:spPr>
        <p:txBody>
          <a:bodyPr/>
          <a:lstStyle/>
          <a:p>
            <a:r>
              <a:rPr lang="ko-KR" altLang="en-US" dirty="0" smtClean="0"/>
              <a:t>입력한 보관 </a:t>
            </a:r>
            <a:r>
              <a:rPr lang="ko-KR" altLang="en-US" dirty="0" err="1" smtClean="0"/>
              <a:t>테이블명의</a:t>
            </a:r>
            <a:r>
              <a:rPr lang="ko-KR" altLang="en-US" dirty="0" smtClean="0"/>
              <a:t> 중복 확인 기능</a:t>
            </a:r>
            <a:endParaRPr lang="en-US" altLang="ko-KR" dirty="0"/>
          </a:p>
          <a:p>
            <a:r>
              <a:rPr lang="en-US" altLang="ko-KR" dirty="0" smtClean="0"/>
              <a:t>API </a:t>
            </a:r>
            <a:r>
              <a:rPr lang="ko-KR" altLang="en-US" dirty="0" smtClean="0"/>
              <a:t>요청 변수 추가</a:t>
            </a:r>
            <a:r>
              <a:rPr lang="en-US" altLang="ko-KR" dirty="0" smtClean="0"/>
              <a:t>/</a:t>
            </a:r>
            <a:r>
              <a:rPr lang="ko-KR" altLang="en-US" dirty="0" smtClean="0"/>
              <a:t>삭제 기능</a:t>
            </a:r>
            <a:endParaRPr lang="en-US" altLang="ko-KR" dirty="0" smtClean="0"/>
          </a:p>
          <a:p>
            <a:r>
              <a:rPr lang="ko-KR" altLang="en-US" dirty="0" smtClean="0"/>
              <a:t>입력된 </a:t>
            </a:r>
            <a:r>
              <a:rPr lang="ko-KR" altLang="en-US" dirty="0"/>
              <a:t>정</a:t>
            </a:r>
            <a:r>
              <a:rPr lang="ko-KR" altLang="en-US" dirty="0" smtClean="0"/>
              <a:t>보 기반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요청 결과 조회</a:t>
            </a:r>
            <a:endParaRPr lang="en-US" altLang="ko-KR" dirty="0" smtClean="0"/>
          </a:p>
          <a:p>
            <a:r>
              <a:rPr lang="en-US" altLang="ko-KR" dirty="0" smtClean="0"/>
              <a:t>API </a:t>
            </a:r>
            <a:r>
              <a:rPr lang="ko-KR" altLang="en-US" dirty="0" smtClean="0"/>
              <a:t>요청 결과 기반 저장 필드 선택</a:t>
            </a:r>
            <a:endParaRPr lang="en-US" altLang="ko-KR" dirty="0" smtClean="0"/>
          </a:p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저장 기능</a:t>
            </a:r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2. WEB </a:t>
            </a:r>
            <a:r>
              <a:rPr lang="ko-KR" altLang="en-US" smtClean="0"/>
              <a:t>서비스 페이지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180027"/>
            <a:ext cx="4602163" cy="3729436"/>
          </a:xfrm>
          <a:prstGeom prst="rect">
            <a:avLst/>
          </a:prstGeom>
        </p:spPr>
      </p:pic>
      <p:sp>
        <p:nvSpPr>
          <p:cNvPr id="23" name="자유형 22"/>
          <p:cNvSpPr/>
          <p:nvPr/>
        </p:nvSpPr>
        <p:spPr>
          <a:xfrm>
            <a:off x="4953000" y="2180027"/>
            <a:ext cx="4602163" cy="3729436"/>
          </a:xfrm>
          <a:custGeom>
            <a:avLst/>
            <a:gdLst>
              <a:gd name="connsiteX0" fmla="*/ 3894273 w 4602163"/>
              <a:gd name="connsiteY0" fmla="*/ 2743199 h 3729436"/>
              <a:gd name="connsiteX1" fmla="*/ 3894273 w 4602163"/>
              <a:gd name="connsiteY1" fmla="*/ 2918813 h 3729436"/>
              <a:gd name="connsiteX2" fmla="*/ 4409002 w 4602163"/>
              <a:gd name="connsiteY2" fmla="*/ 2918813 h 3729436"/>
              <a:gd name="connsiteX3" fmla="*/ 4409002 w 4602163"/>
              <a:gd name="connsiteY3" fmla="*/ 2743199 h 3729436"/>
              <a:gd name="connsiteX4" fmla="*/ 79229 w 4602163"/>
              <a:gd name="connsiteY4" fmla="*/ 2565102 h 3729436"/>
              <a:gd name="connsiteX5" fmla="*/ 79229 w 4602163"/>
              <a:gd name="connsiteY5" fmla="*/ 2767422 h 3729436"/>
              <a:gd name="connsiteX6" fmla="*/ 3809495 w 4602163"/>
              <a:gd name="connsiteY6" fmla="*/ 2767422 h 3729436"/>
              <a:gd name="connsiteX7" fmla="*/ 3809495 w 4602163"/>
              <a:gd name="connsiteY7" fmla="*/ 2565102 h 3729436"/>
              <a:gd name="connsiteX8" fmla="*/ 79229 w 4602163"/>
              <a:gd name="connsiteY8" fmla="*/ 1949082 h 3729436"/>
              <a:gd name="connsiteX9" fmla="*/ 79229 w 4602163"/>
              <a:gd name="connsiteY9" fmla="*/ 2543364 h 3729436"/>
              <a:gd name="connsiteX10" fmla="*/ 4409002 w 4602163"/>
              <a:gd name="connsiteY10" fmla="*/ 2543364 h 3729436"/>
              <a:gd name="connsiteX11" fmla="*/ 4409002 w 4602163"/>
              <a:gd name="connsiteY11" fmla="*/ 1949082 h 3729436"/>
              <a:gd name="connsiteX12" fmla="*/ 79229 w 4602163"/>
              <a:gd name="connsiteY12" fmla="*/ 1634191 h 3729436"/>
              <a:gd name="connsiteX13" fmla="*/ 79229 w 4602163"/>
              <a:gd name="connsiteY13" fmla="*/ 1919635 h 3729436"/>
              <a:gd name="connsiteX14" fmla="*/ 4409002 w 4602163"/>
              <a:gd name="connsiteY14" fmla="*/ 1919635 h 3729436"/>
              <a:gd name="connsiteX15" fmla="*/ 4409002 w 4602163"/>
              <a:gd name="connsiteY15" fmla="*/ 1634191 h 3729436"/>
              <a:gd name="connsiteX16" fmla="*/ 2253199 w 4602163"/>
              <a:gd name="connsiteY16" fmla="*/ 962430 h 3729436"/>
              <a:gd name="connsiteX17" fmla="*/ 2253199 w 4602163"/>
              <a:gd name="connsiteY17" fmla="*/ 1168736 h 3729436"/>
              <a:gd name="connsiteX18" fmla="*/ 4409002 w 4602163"/>
              <a:gd name="connsiteY18" fmla="*/ 1168736 h 3729436"/>
              <a:gd name="connsiteX19" fmla="*/ 4409002 w 4602163"/>
              <a:gd name="connsiteY19" fmla="*/ 962430 h 3729436"/>
              <a:gd name="connsiteX20" fmla="*/ 0 w 4602163"/>
              <a:gd name="connsiteY20" fmla="*/ 0 h 3729436"/>
              <a:gd name="connsiteX21" fmla="*/ 4602163 w 4602163"/>
              <a:gd name="connsiteY21" fmla="*/ 0 h 3729436"/>
              <a:gd name="connsiteX22" fmla="*/ 4602163 w 4602163"/>
              <a:gd name="connsiteY22" fmla="*/ 3729436 h 3729436"/>
              <a:gd name="connsiteX23" fmla="*/ 0 w 4602163"/>
              <a:gd name="connsiteY23" fmla="*/ 3729436 h 3729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602163" h="3729436">
                <a:moveTo>
                  <a:pt x="3894273" y="2743199"/>
                </a:moveTo>
                <a:lnTo>
                  <a:pt x="3894273" y="2918813"/>
                </a:lnTo>
                <a:lnTo>
                  <a:pt x="4409002" y="2918813"/>
                </a:lnTo>
                <a:lnTo>
                  <a:pt x="4409002" y="2743199"/>
                </a:lnTo>
                <a:close/>
                <a:moveTo>
                  <a:pt x="79229" y="2565102"/>
                </a:moveTo>
                <a:lnTo>
                  <a:pt x="79229" y="2767422"/>
                </a:lnTo>
                <a:lnTo>
                  <a:pt x="3809495" y="2767422"/>
                </a:lnTo>
                <a:lnTo>
                  <a:pt x="3809495" y="2565102"/>
                </a:lnTo>
                <a:close/>
                <a:moveTo>
                  <a:pt x="79229" y="1949082"/>
                </a:moveTo>
                <a:lnTo>
                  <a:pt x="79229" y="2543364"/>
                </a:lnTo>
                <a:lnTo>
                  <a:pt x="4409002" y="2543364"/>
                </a:lnTo>
                <a:lnTo>
                  <a:pt x="4409002" y="1949082"/>
                </a:lnTo>
                <a:close/>
                <a:moveTo>
                  <a:pt x="79229" y="1634191"/>
                </a:moveTo>
                <a:lnTo>
                  <a:pt x="79229" y="1919635"/>
                </a:lnTo>
                <a:lnTo>
                  <a:pt x="4409002" y="1919635"/>
                </a:lnTo>
                <a:lnTo>
                  <a:pt x="4409002" y="1634191"/>
                </a:lnTo>
                <a:close/>
                <a:moveTo>
                  <a:pt x="2253199" y="962430"/>
                </a:moveTo>
                <a:lnTo>
                  <a:pt x="2253199" y="1168736"/>
                </a:lnTo>
                <a:lnTo>
                  <a:pt x="4409002" y="1168736"/>
                </a:lnTo>
                <a:lnTo>
                  <a:pt x="4409002" y="962430"/>
                </a:lnTo>
                <a:close/>
                <a:moveTo>
                  <a:pt x="0" y="0"/>
                </a:moveTo>
                <a:lnTo>
                  <a:pt x="4602163" y="0"/>
                </a:lnTo>
                <a:lnTo>
                  <a:pt x="4602163" y="3729436"/>
                </a:lnTo>
                <a:lnTo>
                  <a:pt x="0" y="3729436"/>
                </a:lnTo>
                <a:close/>
              </a:path>
            </a:pathLst>
          </a:cu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206199" y="3142457"/>
            <a:ext cx="2155804" cy="206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032229" y="3814218"/>
            <a:ext cx="4329774" cy="28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032229" y="4129109"/>
            <a:ext cx="4329774" cy="594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847273" y="4923226"/>
            <a:ext cx="514729" cy="1756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설명선 2 17"/>
          <p:cNvSpPr/>
          <p:nvPr/>
        </p:nvSpPr>
        <p:spPr>
          <a:xfrm>
            <a:off x="6292726" y="2518669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25956"/>
              <a:gd name="adj6" fmla="val 1441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ko-KR" altLang="en-US" sz="900" dirty="0" smtClean="0"/>
              <a:t>보관 </a:t>
            </a:r>
            <a:r>
              <a:rPr lang="ko-KR" altLang="en-US" sz="900" dirty="0" err="1" smtClean="0"/>
              <a:t>테이블명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err="1" smtClean="0"/>
              <a:t>중복확인</a:t>
            </a:r>
            <a:r>
              <a:rPr lang="ko-KR" altLang="en-US" sz="900" dirty="0" smtClean="0"/>
              <a:t> 기능</a:t>
            </a:r>
            <a:endParaRPr lang="ko-KR" altLang="en-US" sz="900" dirty="0"/>
          </a:p>
        </p:txBody>
      </p:sp>
      <p:sp>
        <p:nvSpPr>
          <p:cNvPr id="19" name="설명선 2 18"/>
          <p:cNvSpPr/>
          <p:nvPr/>
        </p:nvSpPr>
        <p:spPr>
          <a:xfrm>
            <a:off x="5082610" y="3223351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25956"/>
              <a:gd name="adj6" fmla="val 1441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/>
              <a:t>2</a:t>
            </a:r>
            <a:r>
              <a:rPr lang="en-US" altLang="ko-KR" sz="900" dirty="0" smtClean="0"/>
              <a:t>. API </a:t>
            </a:r>
            <a:r>
              <a:rPr lang="ko-KR" altLang="en-US" sz="900" dirty="0" smtClean="0"/>
              <a:t>요청 변수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추가</a:t>
            </a:r>
            <a:r>
              <a:rPr lang="en-US" altLang="ko-KR" sz="900" dirty="0" smtClean="0"/>
              <a:t>/</a:t>
            </a:r>
            <a:r>
              <a:rPr lang="ko-KR" altLang="en-US" sz="900" dirty="0" smtClean="0"/>
              <a:t>삭제</a:t>
            </a:r>
            <a:endParaRPr lang="ko-KR" altLang="en-US" sz="900" dirty="0"/>
          </a:p>
        </p:txBody>
      </p:sp>
      <p:sp>
        <p:nvSpPr>
          <p:cNvPr id="20" name="설명선 2 19"/>
          <p:cNvSpPr/>
          <p:nvPr/>
        </p:nvSpPr>
        <p:spPr>
          <a:xfrm>
            <a:off x="3001411" y="3956940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90517"/>
              <a:gd name="adj6" fmla="val 1341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3. API </a:t>
            </a:r>
            <a:r>
              <a:rPr lang="ko-KR" altLang="en-US" sz="900" dirty="0" smtClean="0"/>
              <a:t>요청 결과 조회</a:t>
            </a:r>
            <a:endParaRPr lang="ko-KR" altLang="en-US" sz="900" dirty="0"/>
          </a:p>
        </p:txBody>
      </p:sp>
      <p:sp>
        <p:nvSpPr>
          <p:cNvPr id="21" name="직사각형 20"/>
          <p:cNvSpPr/>
          <p:nvPr/>
        </p:nvSpPr>
        <p:spPr>
          <a:xfrm>
            <a:off x="5032229" y="4745129"/>
            <a:ext cx="3730266" cy="202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설명선 2 23"/>
          <p:cNvSpPr/>
          <p:nvPr/>
        </p:nvSpPr>
        <p:spPr>
          <a:xfrm>
            <a:off x="3001411" y="4771806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4577"/>
              <a:gd name="adj6" fmla="val 13371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4. API </a:t>
            </a:r>
            <a:r>
              <a:rPr lang="ko-KR" altLang="en-US" sz="900" dirty="0" smtClean="0"/>
              <a:t>요청 결과 기반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저장 필드 선택</a:t>
            </a:r>
            <a:endParaRPr lang="ko-KR" altLang="en-US" sz="900" dirty="0"/>
          </a:p>
        </p:txBody>
      </p:sp>
      <p:sp>
        <p:nvSpPr>
          <p:cNvPr id="25" name="설명선 2 24"/>
          <p:cNvSpPr/>
          <p:nvPr/>
        </p:nvSpPr>
        <p:spPr>
          <a:xfrm>
            <a:off x="7059691" y="5033207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4577"/>
              <a:gd name="adj6" fmla="val 13371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5.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저장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51465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1493999" cy="166199"/>
          </a:xfrm>
        </p:spPr>
        <p:txBody>
          <a:bodyPr/>
          <a:lstStyle/>
          <a:p>
            <a:r>
              <a:rPr lang="ko-KR" altLang="en-US" dirty="0" smtClean="0"/>
              <a:t>저장소 가시화 페이지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350838" y="474666"/>
            <a:ext cx="2252220" cy="300147"/>
          </a:xfrm>
        </p:spPr>
        <p:txBody>
          <a:bodyPr/>
          <a:lstStyle/>
          <a:p>
            <a:r>
              <a:rPr lang="en-US" altLang="ko-KR" dirty="0" smtClean="0"/>
              <a:t>2.5 </a:t>
            </a:r>
            <a:r>
              <a:rPr lang="ko-KR" altLang="en-US" dirty="0" smtClean="0"/>
              <a:t>저장소 가시화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3441968" cy="507831"/>
          </a:xfrm>
        </p:spPr>
        <p:txBody>
          <a:bodyPr/>
          <a:lstStyle/>
          <a:p>
            <a:r>
              <a:rPr lang="ko-KR" altLang="en-US" dirty="0" smtClean="0"/>
              <a:t>등록된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저장소 전체 목록에서 저장소 선택</a:t>
            </a:r>
            <a:endParaRPr lang="en-US" altLang="ko-KR" dirty="0" smtClean="0"/>
          </a:p>
          <a:p>
            <a:r>
              <a:rPr lang="ko-KR" altLang="en-US" dirty="0" smtClean="0"/>
              <a:t>해당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저장소 데이터 조회</a:t>
            </a:r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2. WEB </a:t>
            </a:r>
            <a:r>
              <a:rPr lang="ko-KR" altLang="en-US" smtClean="0"/>
              <a:t>서비스 페이지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184973"/>
            <a:ext cx="4602163" cy="3732242"/>
          </a:xfrm>
          <a:prstGeom prst="rect">
            <a:avLst/>
          </a:prstGeom>
        </p:spPr>
      </p:pic>
      <p:sp>
        <p:nvSpPr>
          <p:cNvPr id="23" name="자유형 22"/>
          <p:cNvSpPr/>
          <p:nvPr/>
        </p:nvSpPr>
        <p:spPr>
          <a:xfrm>
            <a:off x="4953000" y="2184973"/>
            <a:ext cx="4602163" cy="3732242"/>
          </a:xfrm>
          <a:custGeom>
            <a:avLst/>
            <a:gdLst>
              <a:gd name="connsiteX0" fmla="*/ 978993 w 4602163"/>
              <a:gd name="connsiteY0" fmla="*/ 618976 h 3732242"/>
              <a:gd name="connsiteX1" fmla="*/ 978993 w 4602163"/>
              <a:gd name="connsiteY1" fmla="*/ 2278026 h 3732242"/>
              <a:gd name="connsiteX2" fmla="*/ 4239445 w 4602163"/>
              <a:gd name="connsiteY2" fmla="*/ 2278026 h 3732242"/>
              <a:gd name="connsiteX3" fmla="*/ 4239445 w 4602163"/>
              <a:gd name="connsiteY3" fmla="*/ 618976 h 3732242"/>
              <a:gd name="connsiteX4" fmla="*/ 339620 w 4602163"/>
              <a:gd name="connsiteY4" fmla="*/ 618976 h 3732242"/>
              <a:gd name="connsiteX5" fmla="*/ 339620 w 4602163"/>
              <a:gd name="connsiteY5" fmla="*/ 1714852 h 3732242"/>
              <a:gd name="connsiteX6" fmla="*/ 939127 w 4602163"/>
              <a:gd name="connsiteY6" fmla="*/ 1714852 h 3732242"/>
              <a:gd name="connsiteX7" fmla="*/ 939127 w 4602163"/>
              <a:gd name="connsiteY7" fmla="*/ 618976 h 3732242"/>
              <a:gd name="connsiteX8" fmla="*/ 0 w 4602163"/>
              <a:gd name="connsiteY8" fmla="*/ 0 h 3732242"/>
              <a:gd name="connsiteX9" fmla="*/ 4602163 w 4602163"/>
              <a:gd name="connsiteY9" fmla="*/ 0 h 3732242"/>
              <a:gd name="connsiteX10" fmla="*/ 4602163 w 4602163"/>
              <a:gd name="connsiteY10" fmla="*/ 3732242 h 3732242"/>
              <a:gd name="connsiteX11" fmla="*/ 0 w 4602163"/>
              <a:gd name="connsiteY11" fmla="*/ 3732242 h 3732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602163" h="3732242">
                <a:moveTo>
                  <a:pt x="978993" y="618976"/>
                </a:moveTo>
                <a:lnTo>
                  <a:pt x="978993" y="2278026"/>
                </a:lnTo>
                <a:lnTo>
                  <a:pt x="4239445" y="2278026"/>
                </a:lnTo>
                <a:lnTo>
                  <a:pt x="4239445" y="618976"/>
                </a:lnTo>
                <a:close/>
                <a:moveTo>
                  <a:pt x="339620" y="618976"/>
                </a:moveTo>
                <a:lnTo>
                  <a:pt x="339620" y="1714852"/>
                </a:lnTo>
                <a:lnTo>
                  <a:pt x="939127" y="1714852"/>
                </a:lnTo>
                <a:lnTo>
                  <a:pt x="939127" y="618976"/>
                </a:lnTo>
                <a:close/>
                <a:moveTo>
                  <a:pt x="0" y="0"/>
                </a:moveTo>
                <a:lnTo>
                  <a:pt x="4602163" y="0"/>
                </a:lnTo>
                <a:lnTo>
                  <a:pt x="4602163" y="3732242"/>
                </a:lnTo>
                <a:lnTo>
                  <a:pt x="0" y="3732242"/>
                </a:lnTo>
                <a:close/>
              </a:path>
            </a:pathLst>
          </a:cu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292620" y="2803949"/>
            <a:ext cx="599507" cy="1095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5931993" y="2803949"/>
            <a:ext cx="3260452" cy="1659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설명선 2 23"/>
          <p:cNvSpPr/>
          <p:nvPr/>
        </p:nvSpPr>
        <p:spPr>
          <a:xfrm>
            <a:off x="3594464" y="4014760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-23392"/>
              <a:gd name="adj6" fmla="val 13130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ko-KR" altLang="en-US" sz="900" dirty="0" smtClean="0"/>
              <a:t>등록된 </a:t>
            </a:r>
            <a:r>
              <a:rPr lang="ko-KR" altLang="en-US" sz="900" dirty="0" err="1" smtClean="0"/>
              <a:t>데이터셋</a:t>
            </a:r>
            <a:r>
              <a:rPr lang="en-US" altLang="ko-KR" sz="900" dirty="0"/>
              <a:t/>
            </a:r>
            <a:br>
              <a:rPr lang="en-US" altLang="ko-KR" sz="900" dirty="0"/>
            </a:br>
            <a:r>
              <a:rPr lang="ko-KR" altLang="en-US" sz="900" dirty="0" smtClean="0"/>
              <a:t>저장소 선택</a:t>
            </a:r>
            <a:endParaRPr lang="ko-KR" altLang="en-US" sz="900" dirty="0"/>
          </a:p>
        </p:txBody>
      </p:sp>
      <p:sp>
        <p:nvSpPr>
          <p:cNvPr id="25" name="설명선 2 24"/>
          <p:cNvSpPr/>
          <p:nvPr/>
        </p:nvSpPr>
        <p:spPr>
          <a:xfrm>
            <a:off x="6053350" y="4591410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-23392"/>
              <a:gd name="adj6" fmla="val 13130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2. </a:t>
            </a:r>
            <a:r>
              <a:rPr lang="ko-KR" altLang="en-US" sz="900" dirty="0" smtClean="0"/>
              <a:t>해당 </a:t>
            </a:r>
            <a:r>
              <a:rPr lang="ko-KR" altLang="en-US" sz="900" dirty="0" err="1" smtClean="0"/>
              <a:t>데이터셋</a:t>
            </a:r>
            <a:r>
              <a:rPr lang="ko-KR" altLang="en-US" sz="900" dirty="0" smtClean="0"/>
              <a:t> 저장소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데이터 조회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15918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1340110" cy="166199"/>
          </a:xfrm>
        </p:spPr>
        <p:txBody>
          <a:bodyPr/>
          <a:lstStyle/>
          <a:p>
            <a:r>
              <a:rPr lang="ko-KR" altLang="en-US" dirty="0" smtClean="0"/>
              <a:t>사용자 관리 페이지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350838" y="474666"/>
            <a:ext cx="2713884" cy="300147"/>
          </a:xfrm>
        </p:spPr>
        <p:txBody>
          <a:bodyPr/>
          <a:lstStyle/>
          <a:p>
            <a:r>
              <a:rPr lang="en-US" altLang="ko-KR" dirty="0" smtClean="0"/>
              <a:t>2.6 </a:t>
            </a:r>
            <a:r>
              <a:rPr lang="ko-KR" altLang="en-US" dirty="0" smtClean="0"/>
              <a:t>사용자 관리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3773790" cy="729046"/>
          </a:xfrm>
        </p:spPr>
        <p:txBody>
          <a:bodyPr/>
          <a:lstStyle/>
          <a:p>
            <a:r>
              <a:rPr lang="ko-KR" altLang="en-US" dirty="0" smtClean="0"/>
              <a:t>등록된 사용자 목록을 조회하고 선택을 통해 해당 사용자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 조회 화면을 호출</a:t>
            </a:r>
            <a:endParaRPr lang="en-US" altLang="ko-KR" dirty="0" smtClean="0"/>
          </a:p>
          <a:p>
            <a:r>
              <a:rPr lang="ko-KR" altLang="en-US" dirty="0" smtClean="0"/>
              <a:t>사용자 추가 버튼을 선택하여 사용자 등록 화면을 호출</a:t>
            </a:r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2. WEB </a:t>
            </a:r>
            <a:r>
              <a:rPr lang="ko-KR" altLang="en-US" smtClean="0"/>
              <a:t>서비스 페이지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06" y="2236064"/>
            <a:ext cx="4594657" cy="3731758"/>
          </a:xfrm>
          <a:prstGeom prst="rect">
            <a:avLst/>
          </a:prstGeom>
        </p:spPr>
      </p:pic>
      <p:sp>
        <p:nvSpPr>
          <p:cNvPr id="21" name="자유형 20"/>
          <p:cNvSpPr/>
          <p:nvPr/>
        </p:nvSpPr>
        <p:spPr>
          <a:xfrm>
            <a:off x="4952241" y="2236064"/>
            <a:ext cx="4602163" cy="3731758"/>
          </a:xfrm>
          <a:custGeom>
            <a:avLst/>
            <a:gdLst>
              <a:gd name="connsiteX0" fmla="*/ 558381 w 4602163"/>
              <a:gd name="connsiteY0" fmla="*/ 1095541 h 3731758"/>
              <a:gd name="connsiteX1" fmla="*/ 558381 w 4602163"/>
              <a:gd name="connsiteY1" fmla="*/ 1560815 h 3731758"/>
              <a:gd name="connsiteX2" fmla="*/ 4125147 w 4602163"/>
              <a:gd name="connsiteY2" fmla="*/ 1560815 h 3731758"/>
              <a:gd name="connsiteX3" fmla="*/ 4125147 w 4602163"/>
              <a:gd name="connsiteY3" fmla="*/ 1095541 h 3731758"/>
              <a:gd name="connsiteX4" fmla="*/ 3622530 w 4602163"/>
              <a:gd name="connsiteY4" fmla="*/ 888640 h 3731758"/>
              <a:gd name="connsiteX5" fmla="*/ 3622530 w 4602163"/>
              <a:gd name="connsiteY5" fmla="*/ 1033975 h 3731758"/>
              <a:gd name="connsiteX6" fmla="*/ 4125147 w 4602163"/>
              <a:gd name="connsiteY6" fmla="*/ 1033975 h 3731758"/>
              <a:gd name="connsiteX7" fmla="*/ 4125147 w 4602163"/>
              <a:gd name="connsiteY7" fmla="*/ 888640 h 3731758"/>
              <a:gd name="connsiteX8" fmla="*/ 0 w 4602163"/>
              <a:gd name="connsiteY8" fmla="*/ 0 h 3731758"/>
              <a:gd name="connsiteX9" fmla="*/ 4602163 w 4602163"/>
              <a:gd name="connsiteY9" fmla="*/ 0 h 3731758"/>
              <a:gd name="connsiteX10" fmla="*/ 4602163 w 4602163"/>
              <a:gd name="connsiteY10" fmla="*/ 3731758 h 3731758"/>
              <a:gd name="connsiteX11" fmla="*/ 0 w 4602163"/>
              <a:gd name="connsiteY11" fmla="*/ 3731758 h 3731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602163" h="3731758">
                <a:moveTo>
                  <a:pt x="558381" y="1095541"/>
                </a:moveTo>
                <a:lnTo>
                  <a:pt x="558381" y="1560815"/>
                </a:lnTo>
                <a:lnTo>
                  <a:pt x="4125147" y="1560815"/>
                </a:lnTo>
                <a:lnTo>
                  <a:pt x="4125147" y="1095541"/>
                </a:lnTo>
                <a:close/>
                <a:moveTo>
                  <a:pt x="3622530" y="888640"/>
                </a:moveTo>
                <a:lnTo>
                  <a:pt x="3622530" y="1033975"/>
                </a:lnTo>
                <a:lnTo>
                  <a:pt x="4125147" y="1033975"/>
                </a:lnTo>
                <a:lnTo>
                  <a:pt x="4125147" y="888640"/>
                </a:lnTo>
                <a:close/>
                <a:moveTo>
                  <a:pt x="0" y="0"/>
                </a:moveTo>
                <a:lnTo>
                  <a:pt x="4602163" y="0"/>
                </a:lnTo>
                <a:lnTo>
                  <a:pt x="4602163" y="3731758"/>
                </a:lnTo>
                <a:lnTo>
                  <a:pt x="0" y="3731758"/>
                </a:lnTo>
                <a:close/>
              </a:path>
            </a:pathLst>
          </a:cu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574771" y="3124704"/>
            <a:ext cx="502617" cy="145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설명선 2 15"/>
          <p:cNvSpPr/>
          <p:nvPr/>
        </p:nvSpPr>
        <p:spPr>
          <a:xfrm>
            <a:off x="6846337" y="2361574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51270"/>
              <a:gd name="adj6" fmla="val 13211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2. </a:t>
            </a:r>
            <a:r>
              <a:rPr lang="ko-KR" altLang="en-US" sz="900" dirty="0" smtClean="0"/>
              <a:t>사용자 추가 화면 호출</a:t>
            </a:r>
            <a:endParaRPr lang="ko-KR" altLang="en-US" sz="900" dirty="0"/>
          </a:p>
        </p:txBody>
      </p:sp>
      <p:sp>
        <p:nvSpPr>
          <p:cNvPr id="17" name="직사각형 16"/>
          <p:cNvSpPr/>
          <p:nvPr/>
        </p:nvSpPr>
        <p:spPr>
          <a:xfrm>
            <a:off x="5510623" y="3331605"/>
            <a:ext cx="3566765" cy="4652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설명선 2 17"/>
          <p:cNvSpPr/>
          <p:nvPr/>
        </p:nvSpPr>
        <p:spPr>
          <a:xfrm>
            <a:off x="4756188" y="3991547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-37314"/>
              <a:gd name="adj6" fmla="val 13773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ko-KR" altLang="en-US" sz="900" dirty="0" smtClean="0"/>
              <a:t>등록된 사용자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조회</a:t>
            </a:r>
            <a:r>
              <a:rPr lang="en-US" altLang="ko-KR" sz="900" dirty="0"/>
              <a:t> </a:t>
            </a:r>
            <a:r>
              <a:rPr lang="ko-KR" altLang="en-US" sz="900" dirty="0" smtClean="0"/>
              <a:t>및 상세 조회 화면 호출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2826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3771" y="1024026"/>
            <a:ext cx="1340110" cy="166199"/>
          </a:xfrm>
        </p:spPr>
        <p:txBody>
          <a:bodyPr/>
          <a:lstStyle/>
          <a:p>
            <a:r>
              <a:rPr lang="ko-KR" altLang="en-US" dirty="0" smtClean="0"/>
              <a:t>사용자 등록 페이지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350838" y="474666"/>
            <a:ext cx="2713884" cy="300147"/>
          </a:xfrm>
        </p:spPr>
        <p:txBody>
          <a:bodyPr/>
          <a:lstStyle/>
          <a:p>
            <a:r>
              <a:rPr lang="en-US" altLang="ko-KR" dirty="0" smtClean="0"/>
              <a:t>2.7 </a:t>
            </a:r>
            <a:r>
              <a:rPr lang="ko-KR" altLang="en-US" dirty="0" smtClean="0"/>
              <a:t>사용자 관리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45579" y="1280455"/>
            <a:ext cx="2220480" cy="507831"/>
          </a:xfrm>
        </p:spPr>
        <p:txBody>
          <a:bodyPr/>
          <a:lstStyle/>
          <a:p>
            <a:r>
              <a:rPr lang="ko-KR" altLang="en-US" dirty="0" smtClean="0"/>
              <a:t>사용자 아이디 중복 체크 수행</a:t>
            </a:r>
            <a:endParaRPr lang="en-US" altLang="ko-KR" dirty="0" smtClean="0"/>
          </a:p>
          <a:p>
            <a:r>
              <a:rPr lang="ko-KR" altLang="en-US" dirty="0" smtClean="0"/>
              <a:t>입력된 사용자 정보를 등록</a:t>
            </a:r>
            <a:r>
              <a:rPr lang="en-US" altLang="ko-KR" dirty="0" smtClean="0"/>
              <a:t>/</a:t>
            </a:r>
            <a:r>
              <a:rPr lang="ko-KR" altLang="en-US" dirty="0" smtClean="0"/>
              <a:t>취소</a:t>
            </a:r>
            <a:endParaRPr lang="en-US" altLang="ko-KR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2. WEB </a:t>
            </a:r>
            <a:r>
              <a:rPr lang="ko-KR" altLang="en-US" smtClean="0"/>
              <a:t>서비스 페이지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198193"/>
            <a:ext cx="4603084" cy="3736324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6437135" y="3548598"/>
            <a:ext cx="1459406" cy="1635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설명선 2 14"/>
          <p:cNvSpPr/>
          <p:nvPr/>
        </p:nvSpPr>
        <p:spPr>
          <a:xfrm>
            <a:off x="5586766" y="2821802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51270"/>
              <a:gd name="adj6" fmla="val 13211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1. </a:t>
            </a:r>
            <a:r>
              <a:rPr lang="ko-KR" altLang="en-US" sz="900" dirty="0" smtClean="0"/>
              <a:t>사용자 아이디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ko-KR" altLang="en-US" sz="900" dirty="0" smtClean="0"/>
              <a:t>중복 체크 기능</a:t>
            </a:r>
            <a:endParaRPr lang="ko-KR" altLang="en-US" sz="900" dirty="0"/>
          </a:p>
        </p:txBody>
      </p:sp>
      <p:sp>
        <p:nvSpPr>
          <p:cNvPr id="16" name="직사각형 15"/>
          <p:cNvSpPr/>
          <p:nvPr/>
        </p:nvSpPr>
        <p:spPr>
          <a:xfrm>
            <a:off x="7642204" y="4833401"/>
            <a:ext cx="437016" cy="1635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설명선 2 16"/>
          <p:cNvSpPr/>
          <p:nvPr/>
        </p:nvSpPr>
        <p:spPr>
          <a:xfrm>
            <a:off x="5836057" y="4105628"/>
            <a:ext cx="1508869" cy="478454"/>
          </a:xfrm>
          <a:prstGeom prst="borderCallout2">
            <a:avLst>
              <a:gd name="adj1" fmla="val 49948"/>
              <a:gd name="adj2" fmla="val 100279"/>
              <a:gd name="adj3" fmla="val 50217"/>
              <a:gd name="adj4" fmla="val 122546"/>
              <a:gd name="adj5" fmla="val 151270"/>
              <a:gd name="adj6" fmla="val 13211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/>
              <a:t>2. </a:t>
            </a:r>
            <a:r>
              <a:rPr lang="ko-KR" altLang="en-US" sz="900" dirty="0" smtClean="0"/>
              <a:t>사용자 추가</a:t>
            </a:r>
            <a:r>
              <a:rPr lang="en-US" altLang="ko-KR" sz="900" dirty="0" smtClean="0"/>
              <a:t>/</a:t>
            </a:r>
            <a:r>
              <a:rPr lang="ko-KR" altLang="en-US" sz="900" dirty="0" smtClean="0"/>
              <a:t>취소 기능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81333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98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. 표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간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내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지막장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16888</TotalTime>
  <Words>415</Words>
  <Application>Microsoft Office PowerPoint</Application>
  <PresentationFormat>A4 용지(210x297mm)</PresentationFormat>
  <Paragraphs>97</Paragraphs>
  <Slides>14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14</vt:i4>
      </vt:variant>
    </vt:vector>
  </HeadingPairs>
  <TitlesOfParts>
    <vt:vector size="26" baseType="lpstr">
      <vt:lpstr>Rix고딕 M</vt:lpstr>
      <vt:lpstr>맑은 고딕</vt:lpstr>
      <vt:lpstr>Segoe UI</vt:lpstr>
      <vt:lpstr>Arial</vt:lpstr>
      <vt:lpstr>Times New Roman</vt:lpstr>
      <vt:lpstr>Century Gothic</vt:lpstr>
      <vt:lpstr>Century</vt:lpstr>
      <vt:lpstr>1. 표지</vt:lpstr>
      <vt:lpstr>2. 목차</vt:lpstr>
      <vt:lpstr>3. 간지</vt:lpstr>
      <vt:lpstr>4. 내지</vt:lpstr>
      <vt:lpstr>마지막장</vt:lpstr>
      <vt:lpstr>연합 디지털트윈 머신러닝 학습용 데이터 서버 시스템</vt:lpstr>
      <vt:lpstr>PowerPoint 프레젠테이션</vt:lpstr>
      <vt:lpstr>WEB 환경 실행</vt:lpstr>
      <vt:lpstr>1.1 WEB 서버 실행</vt:lpstr>
      <vt:lpstr>1.2 Middleware 서버 실행</vt:lpstr>
      <vt:lpstr>WEB 서비스 페이지</vt:lpstr>
      <vt:lpstr>2.1 로그인</vt:lpstr>
      <vt:lpstr>2.2 대시보드</vt:lpstr>
      <vt:lpstr>2.3 OpenAPI 수집 (1/2)</vt:lpstr>
      <vt:lpstr>2.4 OpenAPI 수집 (2/2)</vt:lpstr>
      <vt:lpstr>2.5 저장소 가시화</vt:lpstr>
      <vt:lpstr>2.6 사용자 관리 (1/2)</vt:lpstr>
      <vt:lpstr>2.7 사용자 관리 (2/2)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Wise Sphere Suite</dc:title>
  <dc:creator>user</dc:creator>
  <cp:lastModifiedBy>user</cp:lastModifiedBy>
  <cp:revision>676</cp:revision>
  <cp:lastPrinted>2021-06-28T09:30:28Z</cp:lastPrinted>
  <dcterms:created xsi:type="dcterms:W3CDTF">2019-07-09T02:01:10Z</dcterms:created>
  <dcterms:modified xsi:type="dcterms:W3CDTF">2022-11-24T11:55:13Z</dcterms:modified>
</cp:coreProperties>
</file>